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room. 'This is a working session, not a vendor pitch. We're going to spend most of the next hour on how we actually use Devin and Copilot day-to-day, what we've built to make them work together, and where this is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State role and one sentence on the relevant context. Mention you've been hands-on with both Devin and Copilot for several months and that the kit we'll look at today came out of that work. Don't oversell — let the substance carry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points in your own words. 'We'll start with Devin specifically — quick primer on what it can do — then move into the kit we've built that grounds both Devin and Copilot. The last part is about how this scales beyond my team.' Set expectations on questions — either 'hold them to the end' or 'feel free to interrupt.' Pick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This is the opening hook — don't rush it. 'This isn't a Devin problem or a Copilot problem. It's what happens when you put powerful tools in front of every developer without shared grounding. The tools are doing exactly what you'd expect — generating plausible code based on whatever context they have. The problem is the context isn't shared.' Pause. 'And that's fine when you're prototyping. It's not fine when you're shipping production code across an enterprise.'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'With Copilot, you've always been the safety net. Bad suggestion? You hit escape. With Devin, that safety net is gone — by the time you're reviewing the PR, the decisions have been made. That changes what grounding has to do. It's no longer convenience. It's the only signal the agent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total — roughly 30 seconds per box. Don't dwell on Sessions and Ask Devin (most folks know these). Spend more time on DeepWiki and Multi-repo — those are the modes people underuse. End with: 'The use cases on the next slide will show how these fit together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minutes. The two grid-kit stories you can speak to from real experience — keep it concrete. For the cross-repo one, the line that lands is 'this is where DeepWiki and Sessions work together — Devin researches how it works in repo A, then implements it in repo B.' End with the third story when you've got it locked. Resist embellishing — the audience can tell. PLACEHOLDER: fill in the third story before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is the transition into Act 2. 'This is the problem we kept hitting. Every workaround — better prompts, sharing prompts in Slack, individual instruction files — got us part of the way. None of them scaled. What we ended up building is what we'll spend the rest of today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Walk through each folder briefly — one sentence each. 'AGENTS.md is the entry point — every agent reads this first. Personas are who the agent pretends to be — architect, frontend, backend, QA. Skills are packaged workflows we'll come back to in a few slides. Standards are our coding conventions. Specs are the schemas and domain rules. Docs are the decision trail. And spec-agent-kit is the distributable part — grid-kit, ui-config schemas, the demo site, and shell scripts that drop this into any repo.' Don't go deeper on any one folder yet — they each get their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is the philosophy slide. 'The obvious question is: if every team copies this, won't it drift? Yes — but the parts that have to stay consistent are the schemas. The configs every team produces still validate against the same schemas. That's the consistency mechanism. The rest, teams can adapt.' Don't dwell.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'This is the part where it gets practical. Both tools have their own file convention — that's not going to change. What we did is make those files thin. The real content lives in AGENTS.md and the standards. Each adapter is essentially a pointer with a short list of operating rules. When we update AGENTS.md, both tools get the update on their next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minutes. 'There are two ways these tools work together — and which one you use depends on the task. The first is the spec-driven path. You know what you're building, you draft the spec with Copilot inline, you merge it, Devin picks it up and executes. That works when the work is bounded — a feature inside one repo, something where the spec is the contract.' Pause. 'The second is the research-driven path. You don't have enough context to write a spec yet — the work crosses repos, or you need to understand a backend API, or you're looking at a service you didn't write. You ask Devin first — DeepWiki, multi-repo — get a synthesis, then take that back into Copilot to actually execute. Devin researches, Copilot writes.' Honest aside: 'This second path is also what we fall back to when we've hit our ACU ceiling for the week — Devin does the research, Copilot does the work in the editor. Real constraint, real workflow.' Close: 'The point isn't that one is right. The kit grounds both. Whichever tool is generating output is reading the same standards. Use the tool that fits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'This is the part that makes the rest work. The spec captures intent — what we're building, why, for whom. The schema captures shape — what valid output looks like. An agent reads the spec, generates a config, and the config has to validate against the schema. If it doesn't, it doesn't ship. The review conversation moves up a level — we review specs, not JSON. The schema catches the syntax problems before a human ever sees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'Without skills, every developer has to know the right prompts and the right files to load. With skills, that workflow is packaged once and any agent can invoke it. The AG Grid schema skill is the example — it knows our schema, knows the archetype vocabulary, and produces output in a shape that validates. A developer just says generate a grid spec for X and the skill handles the rest. AGENTS.md is what makes Devin discover it — there's a section that lists available skills and when to use them. The agent reads that, recognizes the task, and routes to the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minutes total including the demo. Before going live: 'This is going to be a real Copilot session. I'll talk through what's happening as it runs.' If something fails on stage, your fallback is to walk through what should happen on this slide. Don't apologize, don't panic — just keep moving. Have a screenshot or short recording ready in your back pocket as a hard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6–7 minutes including demo. The framing line: 'This is where the kit really earns its keep. Devin isn't blindly copy-pasting — it's reading the target repo's standards and conforming the implementation. Without the kit in the target repo, this demo would produce something that looks wrong to the team that owns it.' RISK: pre-stage this carefully — long-running Devin sessions are the biggest risk in this talk. Consider kicking off the session before the talk starts and showing the result mid-stream rather than waiting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'This is where I want to be honest. This isn't a hammer for every nail. For exploration, ad-hoc prompting is faster and that's fine. For production code that ships to customers, the upfront cost of the spec pays for itself. We're also still figuring things out — I'm not going to pretend this is finished. Persona granularity, schema versioning, when one skill should hand off to another — these are live questions.' Pause. 'What I will say is that the cost of doing nothing is higher than the cost of getting this 80%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'This is the practical part. Copying the kit takes minutes. The adapters are templates we'll share. The schemas and skills you can use as-is — they're already battle-tested. Where you'll invest time is in step 4 — adding your team's specific standards over time. And step 5 is how this gets better — when a pattern works for you, contribute it upstream so the next team gets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before opening to questions. 'That's where we're heading. The demo site for visual schema authoring is the next big piece — it lets you build a schema in a UI before copy-pasting it into your repo. We're expanding the skill library across more UI patterns. And if your team wants to start using this, talk to me after — happy to help you get set up.' Then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B7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261C"/>
          </a:solidFill>
          <a:ln/>
        </p:spPr>
      </p:sp>
      <p:sp>
        <p:nvSpPr>
          <p:cNvPr id="3" name="Text 1"/>
          <p:cNvSpPr/>
          <p:nvPr/>
        </p:nvSpPr>
        <p:spPr>
          <a:xfrm>
            <a:off x="640080" y="1188720"/>
            <a:ext cx="7772400" cy="274320"/>
          </a:xfrm>
          <a:prstGeom prst="rect">
            <a:avLst/>
          </a:prstGeom>
          <a:noFill/>
          <a:ln/>
        </p:spPr>
        <p:txBody>
          <a:bodyPr wrap="square" lIns="0" tIns="0" rIns="0" bIns="0" rtlCol="0" anchor="ctr"/>
          <a:lstStyle/>
          <a:p>
            <a:pPr indent="0" marL="0">
              <a:buNone/>
            </a:pPr>
            <a:r>
              <a:rPr lang="en-US" sz="1200" b="1" spc="600" kern="0" dirty="0">
                <a:solidFill>
                  <a:srgbClr val="9FB6D3"/>
                </a:solidFill>
                <a:latin typeface="Calibri" pitchFamily="34" charset="0"/>
                <a:ea typeface="Calibri" pitchFamily="34" charset="-122"/>
                <a:cs typeface="Calibri" pitchFamily="34" charset="-120"/>
              </a:rPr>
              <a:t>A PRACTITIONER TALK</a:t>
            </a:r>
            <a:endParaRPr lang="en-US" sz="1200" dirty="0"/>
          </a:p>
        </p:txBody>
      </p:sp>
      <p:sp>
        <p:nvSpPr>
          <p:cNvPr id="4" name="Text 2"/>
          <p:cNvSpPr/>
          <p:nvPr/>
        </p:nvSpPr>
        <p:spPr>
          <a:xfrm>
            <a:off x="640080" y="1554480"/>
            <a:ext cx="8046720" cy="68580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Spec-Driven Development</a:t>
            </a:r>
            <a:endParaRPr lang="en-US" sz="4000" dirty="0"/>
          </a:p>
        </p:txBody>
      </p:sp>
      <p:sp>
        <p:nvSpPr>
          <p:cNvPr id="5" name="Text 3"/>
          <p:cNvSpPr/>
          <p:nvPr/>
        </p:nvSpPr>
        <p:spPr>
          <a:xfrm>
            <a:off x="640080" y="2286000"/>
            <a:ext cx="8046720" cy="68580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with Devin and Copilot</a:t>
            </a:r>
            <a:endParaRPr lang="en-US" sz="4000" dirty="0"/>
          </a:p>
        </p:txBody>
      </p:sp>
      <p:sp>
        <p:nvSpPr>
          <p:cNvPr id="6" name="Text 4"/>
          <p:cNvSpPr/>
          <p:nvPr/>
        </p:nvSpPr>
        <p:spPr>
          <a:xfrm>
            <a:off x="640080" y="3154680"/>
            <a:ext cx="8046720" cy="45720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How we keep AI output consistent across tools and teams</a:t>
            </a:r>
            <a:endParaRPr lang="en-US" sz="1800" dirty="0"/>
          </a:p>
        </p:txBody>
      </p:sp>
      <p:sp>
        <p:nvSpPr>
          <p:cNvPr id="7" name="Shape 5"/>
          <p:cNvSpPr/>
          <p:nvPr/>
        </p:nvSpPr>
        <p:spPr>
          <a:xfrm>
            <a:off x="640080" y="4160520"/>
            <a:ext cx="1097280" cy="0"/>
          </a:xfrm>
          <a:prstGeom prst="line">
            <a:avLst/>
          </a:prstGeom>
          <a:noFill/>
          <a:ln w="25400">
            <a:solidFill>
              <a:srgbClr val="D9261C"/>
            </a:solidFill>
            <a:prstDash val="solid"/>
          </a:ln>
        </p:spPr>
      </p:sp>
      <p:sp>
        <p:nvSpPr>
          <p:cNvPr id="8" name="Text 6"/>
          <p:cNvSpPr/>
          <p:nvPr/>
        </p:nvSpPr>
        <p:spPr>
          <a:xfrm>
            <a:off x="640080" y="4297680"/>
            <a:ext cx="77724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Derrick  ·  UI Architecture</a:t>
            </a:r>
            <a:endParaRPr lang="en-US" sz="1400" dirty="0"/>
          </a:p>
        </p:txBody>
      </p:sp>
      <p:sp>
        <p:nvSpPr>
          <p:cNvPr id="9" name="Text 7"/>
          <p:cNvSpPr/>
          <p:nvPr/>
        </p:nvSpPr>
        <p:spPr>
          <a:xfrm>
            <a:off x="640080" y="4572000"/>
            <a:ext cx="7772400" cy="274320"/>
          </a:xfrm>
          <a:prstGeom prst="rect">
            <a:avLst/>
          </a:prstGeom>
          <a:noFill/>
          <a:ln/>
        </p:spPr>
        <p:txBody>
          <a:bodyPr wrap="square" lIns="0" tIns="0" rIns="0" bIns="0" rtlCol="0" anchor="ctr"/>
          <a:lstStyle/>
          <a:p>
            <a:pPr indent="0" marL="0">
              <a:buNone/>
            </a:pPr>
            <a:r>
              <a:rPr lang="en-US" sz="1200" dirty="0">
                <a:solidFill>
                  <a:srgbClr val="9FB6D3"/>
                </a:solidFill>
                <a:latin typeface="Calibri" pitchFamily="34" charset="0"/>
                <a:ea typeface="Calibri" pitchFamily="34" charset="-122"/>
                <a:cs typeface="Calibri" pitchFamily="34" charset="-120"/>
              </a:rPr>
              <a:t>Opus Deal Manager  ·  spec-agent framework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INTRODUCTION</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A bit about me</a:t>
            </a:r>
            <a:endParaRPr lang="en-US" sz="2600" dirty="0"/>
          </a:p>
        </p:txBody>
      </p:sp>
      <p:sp>
        <p:nvSpPr>
          <p:cNvPr id="5" name="Shape 3"/>
          <p:cNvSpPr/>
          <p:nvPr/>
        </p:nvSpPr>
        <p:spPr>
          <a:xfrm>
            <a:off x="548640" y="1536192"/>
            <a:ext cx="73152" cy="365760"/>
          </a:xfrm>
          <a:prstGeom prst="rect">
            <a:avLst/>
          </a:prstGeom>
          <a:solidFill>
            <a:srgbClr val="D9261C"/>
          </a:solidFill>
          <a:ln/>
        </p:spPr>
      </p:sp>
      <p:sp>
        <p:nvSpPr>
          <p:cNvPr id="6" name="Text 4"/>
          <p:cNvSpPr/>
          <p:nvPr/>
        </p:nvSpPr>
        <p:spPr>
          <a:xfrm>
            <a:off x="777240" y="1463040"/>
            <a:ext cx="1828800" cy="274320"/>
          </a:xfrm>
          <a:prstGeom prst="rect">
            <a:avLst/>
          </a:prstGeom>
          <a:noFill/>
          <a:ln/>
        </p:spPr>
        <p:txBody>
          <a:bodyPr wrap="square" lIns="0" tIns="0" rIns="0" bIns="0" rtlCol="0" anchor="ctr"/>
          <a:lstStyle/>
          <a:p>
            <a:pPr indent="0" marL="0">
              <a:buNone/>
            </a:pPr>
            <a:r>
              <a:rPr lang="en-US" sz="1000" b="1" spc="400" kern="0" dirty="0">
                <a:solidFill>
                  <a:srgbClr val="5B6A82"/>
                </a:solidFill>
                <a:latin typeface="Calibri" pitchFamily="34" charset="0"/>
                <a:ea typeface="Calibri" pitchFamily="34" charset="-122"/>
                <a:cs typeface="Calibri" pitchFamily="34" charset="-120"/>
              </a:rPr>
              <a:t>ROLE</a:t>
            </a:r>
            <a:endParaRPr lang="en-US" sz="1000" dirty="0"/>
          </a:p>
        </p:txBody>
      </p:sp>
      <p:sp>
        <p:nvSpPr>
          <p:cNvPr id="7" name="Text 5"/>
          <p:cNvSpPr/>
          <p:nvPr/>
        </p:nvSpPr>
        <p:spPr>
          <a:xfrm>
            <a:off x="777240" y="1719072"/>
            <a:ext cx="7498080" cy="365760"/>
          </a:xfrm>
          <a:prstGeom prst="rect">
            <a:avLst/>
          </a:prstGeom>
          <a:noFill/>
          <a:ln/>
        </p:spPr>
        <p:txBody>
          <a:bodyPr wrap="square" lIns="0" tIns="0" rIns="0" bIns="0" rtlCol="0" anchor="ctr"/>
          <a:lstStyle/>
          <a:p>
            <a:pPr indent="0" marL="0">
              <a:buNone/>
            </a:pPr>
            <a:r>
              <a:rPr lang="en-US" sz="1800" dirty="0">
                <a:solidFill>
                  <a:srgbClr val="0F1A2C"/>
                </a:solidFill>
                <a:latin typeface="Calibri" pitchFamily="34" charset="0"/>
                <a:ea typeface="Calibri" pitchFamily="34" charset="-122"/>
                <a:cs typeface="Calibri" pitchFamily="34" charset="-120"/>
              </a:rPr>
              <a:t>Engineering Manager and UI Architect</a:t>
            </a:r>
            <a:endParaRPr lang="en-US" sz="1800" dirty="0"/>
          </a:p>
        </p:txBody>
      </p:sp>
      <p:sp>
        <p:nvSpPr>
          <p:cNvPr id="8" name="Shape 6"/>
          <p:cNvSpPr/>
          <p:nvPr/>
        </p:nvSpPr>
        <p:spPr>
          <a:xfrm>
            <a:off x="548640" y="2450592"/>
            <a:ext cx="73152" cy="365760"/>
          </a:xfrm>
          <a:prstGeom prst="rect">
            <a:avLst/>
          </a:prstGeom>
          <a:solidFill>
            <a:srgbClr val="D9261C"/>
          </a:solidFill>
          <a:ln/>
        </p:spPr>
      </p:sp>
      <p:sp>
        <p:nvSpPr>
          <p:cNvPr id="9" name="Text 7"/>
          <p:cNvSpPr/>
          <p:nvPr/>
        </p:nvSpPr>
        <p:spPr>
          <a:xfrm>
            <a:off x="777240" y="2377440"/>
            <a:ext cx="1828800" cy="274320"/>
          </a:xfrm>
          <a:prstGeom prst="rect">
            <a:avLst/>
          </a:prstGeom>
          <a:noFill/>
          <a:ln/>
        </p:spPr>
        <p:txBody>
          <a:bodyPr wrap="square" lIns="0" tIns="0" rIns="0" bIns="0" rtlCol="0" anchor="ctr"/>
          <a:lstStyle/>
          <a:p>
            <a:pPr indent="0" marL="0">
              <a:buNone/>
            </a:pPr>
            <a:r>
              <a:rPr lang="en-US" sz="1000" b="1" spc="400" kern="0" dirty="0">
                <a:solidFill>
                  <a:srgbClr val="5B6A82"/>
                </a:solidFill>
                <a:latin typeface="Calibri" pitchFamily="34" charset="0"/>
                <a:ea typeface="Calibri" pitchFamily="34" charset="-122"/>
                <a:cs typeface="Calibri" pitchFamily="34" charset="-120"/>
              </a:rPr>
              <a:t>LEAD ON</a:t>
            </a:r>
            <a:endParaRPr lang="en-US" sz="1000" dirty="0"/>
          </a:p>
        </p:txBody>
      </p:sp>
      <p:sp>
        <p:nvSpPr>
          <p:cNvPr id="10" name="Text 8"/>
          <p:cNvSpPr/>
          <p:nvPr/>
        </p:nvSpPr>
        <p:spPr>
          <a:xfrm>
            <a:off x="777240" y="2633472"/>
            <a:ext cx="7498080" cy="365760"/>
          </a:xfrm>
          <a:prstGeom prst="rect">
            <a:avLst/>
          </a:prstGeom>
          <a:noFill/>
          <a:ln/>
        </p:spPr>
        <p:txBody>
          <a:bodyPr wrap="square" lIns="0" tIns="0" rIns="0" bIns="0" rtlCol="0" anchor="ctr"/>
          <a:lstStyle/>
          <a:p>
            <a:pPr indent="0" marL="0">
              <a:buNone/>
            </a:pPr>
            <a:r>
              <a:rPr lang="en-US" sz="1800" dirty="0">
                <a:solidFill>
                  <a:srgbClr val="0F1A2C"/>
                </a:solidFill>
                <a:latin typeface="Calibri" pitchFamily="34" charset="0"/>
                <a:ea typeface="Calibri" pitchFamily="34" charset="-122"/>
                <a:cs typeface="Calibri" pitchFamily="34" charset="-120"/>
              </a:rPr>
              <a:t>Opus Deal Manager — Angular-based enterprise platform</a:t>
            </a:r>
            <a:endParaRPr lang="en-US" sz="1800" dirty="0"/>
          </a:p>
        </p:txBody>
      </p:sp>
      <p:sp>
        <p:nvSpPr>
          <p:cNvPr id="11" name="Shape 9"/>
          <p:cNvSpPr/>
          <p:nvPr/>
        </p:nvSpPr>
        <p:spPr>
          <a:xfrm>
            <a:off x="548640" y="3364992"/>
            <a:ext cx="73152" cy="365760"/>
          </a:xfrm>
          <a:prstGeom prst="rect">
            <a:avLst/>
          </a:prstGeom>
          <a:solidFill>
            <a:srgbClr val="D9261C"/>
          </a:solidFill>
          <a:ln/>
        </p:spPr>
      </p:sp>
      <p:sp>
        <p:nvSpPr>
          <p:cNvPr id="12" name="Text 10"/>
          <p:cNvSpPr/>
          <p:nvPr/>
        </p:nvSpPr>
        <p:spPr>
          <a:xfrm>
            <a:off x="777240" y="3291840"/>
            <a:ext cx="1828800" cy="274320"/>
          </a:xfrm>
          <a:prstGeom prst="rect">
            <a:avLst/>
          </a:prstGeom>
          <a:noFill/>
          <a:ln/>
        </p:spPr>
        <p:txBody>
          <a:bodyPr wrap="square" lIns="0" tIns="0" rIns="0" bIns="0" rtlCol="0" anchor="ctr"/>
          <a:lstStyle/>
          <a:p>
            <a:pPr indent="0" marL="0">
              <a:buNone/>
            </a:pPr>
            <a:r>
              <a:rPr lang="en-US" sz="1000" b="1" spc="400" kern="0" dirty="0">
                <a:solidFill>
                  <a:srgbClr val="5B6A82"/>
                </a:solidFill>
                <a:latin typeface="Calibri" pitchFamily="34" charset="0"/>
                <a:ea typeface="Calibri" pitchFamily="34" charset="-122"/>
                <a:cs typeface="Calibri" pitchFamily="34" charset="-120"/>
              </a:rPr>
              <a:t>OWNER OF</a:t>
            </a:r>
            <a:endParaRPr lang="en-US" sz="1000" dirty="0"/>
          </a:p>
        </p:txBody>
      </p:sp>
      <p:sp>
        <p:nvSpPr>
          <p:cNvPr id="13" name="Text 11"/>
          <p:cNvSpPr/>
          <p:nvPr/>
        </p:nvSpPr>
        <p:spPr>
          <a:xfrm>
            <a:off x="777240" y="3547872"/>
            <a:ext cx="7498080" cy="365760"/>
          </a:xfrm>
          <a:prstGeom prst="rect">
            <a:avLst/>
          </a:prstGeom>
          <a:noFill/>
          <a:ln/>
        </p:spPr>
        <p:txBody>
          <a:bodyPr wrap="square" lIns="0" tIns="0" rIns="0" bIns="0" rtlCol="0" anchor="ctr"/>
          <a:lstStyle/>
          <a:p>
            <a:pPr indent="0" marL="0">
              <a:buNone/>
            </a:pPr>
            <a:r>
              <a:rPr lang="en-US" sz="1800" dirty="0">
                <a:solidFill>
                  <a:srgbClr val="0F1A2C"/>
                </a:solidFill>
                <a:latin typeface="Calibri" pitchFamily="34" charset="0"/>
                <a:ea typeface="Calibri" pitchFamily="34" charset="-122"/>
                <a:cs typeface="Calibri" pitchFamily="34" charset="-120"/>
              </a:rPr>
              <a:t>the spec-agent framework — where we'll spend most of today</a:t>
            </a:r>
            <a:endParaRPr lang="en-US" sz="1800" dirty="0"/>
          </a:p>
        </p:txBody>
      </p:sp>
      <p:sp>
        <p:nvSpPr>
          <p:cNvPr id="14" name="Text 12"/>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2 / 19</a:t>
            </a:r>
            <a:endParaRPr lang="en-US" sz="900" dirty="0"/>
          </a:p>
        </p:txBody>
      </p:sp>
      <p:sp>
        <p:nvSpPr>
          <p:cNvPr id="15" name="Text 13"/>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AGENDA</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What you'll leave with</a:t>
            </a:r>
            <a:endParaRPr lang="en-US" sz="2600" dirty="0"/>
          </a:p>
        </p:txBody>
      </p:sp>
      <p:sp>
        <p:nvSpPr>
          <p:cNvPr id="5" name="Text 3"/>
          <p:cNvSpPr/>
          <p:nvPr/>
        </p:nvSpPr>
        <p:spPr>
          <a:xfrm>
            <a:off x="548640" y="1371600"/>
            <a:ext cx="1005840" cy="822960"/>
          </a:xfrm>
          <a:prstGeom prst="rect">
            <a:avLst/>
          </a:prstGeom>
          <a:noFill/>
          <a:ln/>
        </p:spPr>
        <p:txBody>
          <a:bodyPr wrap="square" lIns="0" tIns="0" rIns="0" bIns="0" rtlCol="0" anchor="t"/>
          <a:lstStyle/>
          <a:p>
            <a:pPr indent="0" marL="0">
              <a:buNone/>
            </a:pPr>
            <a:r>
              <a:rPr lang="en-US" sz="4800" b="1" dirty="0">
                <a:solidFill>
                  <a:srgbClr val="D9261C"/>
                </a:solidFill>
                <a:latin typeface="Georgia" pitchFamily="34" charset="0"/>
                <a:ea typeface="Georgia" pitchFamily="34" charset="-122"/>
                <a:cs typeface="Georgia" pitchFamily="34" charset="-120"/>
              </a:rPr>
              <a:t>01</a:t>
            </a:r>
            <a:endParaRPr lang="en-US" sz="4800" dirty="0"/>
          </a:p>
        </p:txBody>
      </p:sp>
      <p:sp>
        <p:nvSpPr>
          <p:cNvPr id="6" name="Text 4"/>
          <p:cNvSpPr/>
          <p:nvPr/>
        </p:nvSpPr>
        <p:spPr>
          <a:xfrm>
            <a:off x="1554480" y="1417320"/>
            <a:ext cx="7132320" cy="384048"/>
          </a:xfrm>
          <a:prstGeom prst="rect">
            <a:avLst/>
          </a:prstGeom>
          <a:noFill/>
          <a:ln/>
        </p:spPr>
        <p:txBody>
          <a:bodyPr wrap="square" lIns="0" tIns="0" rIns="0" bIns="0" rtlCol="0" anchor="ctr"/>
          <a:lstStyle/>
          <a:p>
            <a:pPr indent="0" marL="0">
              <a:buNone/>
            </a:pPr>
            <a:r>
              <a:rPr lang="en-US" sz="2000" b="1" dirty="0">
                <a:solidFill>
                  <a:srgbClr val="003B70"/>
                </a:solidFill>
                <a:latin typeface="Calibri" pitchFamily="34" charset="0"/>
                <a:ea typeface="Calibri" pitchFamily="34" charset="-122"/>
                <a:cs typeface="Calibri" pitchFamily="34" charset="-120"/>
              </a:rPr>
              <a:t>A practical look at Devin</a:t>
            </a:r>
            <a:endParaRPr lang="en-US" sz="2000" dirty="0"/>
          </a:p>
        </p:txBody>
      </p:sp>
      <p:sp>
        <p:nvSpPr>
          <p:cNvPr id="7" name="Text 5"/>
          <p:cNvSpPr/>
          <p:nvPr/>
        </p:nvSpPr>
        <p:spPr>
          <a:xfrm>
            <a:off x="1554480" y="1828800"/>
            <a:ext cx="7132320" cy="365760"/>
          </a:xfrm>
          <a:prstGeom prst="rect">
            <a:avLst/>
          </a:prstGeom>
          <a:noFill/>
          <a:ln/>
        </p:spPr>
        <p:txBody>
          <a:bodyPr wrap="square" lIns="0" tIns="0" rIns="0" bIns="0" rtlCol="0" anchor="ctr"/>
          <a:lstStyle/>
          <a:p>
            <a:pPr indent="0" marL="0">
              <a:buNone/>
            </a:pPr>
            <a:r>
              <a:rPr lang="en-US" sz="1400" dirty="0">
                <a:solidFill>
                  <a:srgbClr val="5B6A82"/>
                </a:solidFill>
                <a:latin typeface="Calibri" pitchFamily="34" charset="0"/>
                <a:ea typeface="Calibri" pitchFamily="34" charset="-122"/>
                <a:cs typeface="Calibri" pitchFamily="34" charset="-120"/>
              </a:rPr>
              <a:t>what it does, how to use it, and where it fits alongside Copilot</a:t>
            </a:r>
            <a:endParaRPr lang="en-US" sz="1400" dirty="0"/>
          </a:p>
        </p:txBody>
      </p:sp>
      <p:sp>
        <p:nvSpPr>
          <p:cNvPr id="8" name="Text 6"/>
          <p:cNvSpPr/>
          <p:nvPr/>
        </p:nvSpPr>
        <p:spPr>
          <a:xfrm>
            <a:off x="548640" y="2423160"/>
            <a:ext cx="1005840" cy="822960"/>
          </a:xfrm>
          <a:prstGeom prst="rect">
            <a:avLst/>
          </a:prstGeom>
          <a:noFill/>
          <a:ln/>
        </p:spPr>
        <p:txBody>
          <a:bodyPr wrap="square" lIns="0" tIns="0" rIns="0" bIns="0" rtlCol="0" anchor="t"/>
          <a:lstStyle/>
          <a:p>
            <a:pPr indent="0" marL="0">
              <a:buNone/>
            </a:pPr>
            <a:r>
              <a:rPr lang="en-US" sz="4800" b="1" dirty="0">
                <a:solidFill>
                  <a:srgbClr val="D9261C"/>
                </a:solidFill>
                <a:latin typeface="Georgia" pitchFamily="34" charset="0"/>
                <a:ea typeface="Georgia" pitchFamily="34" charset="-122"/>
                <a:cs typeface="Georgia" pitchFamily="34" charset="-120"/>
              </a:rPr>
              <a:t>02</a:t>
            </a:r>
            <a:endParaRPr lang="en-US" sz="4800" dirty="0"/>
          </a:p>
        </p:txBody>
      </p:sp>
      <p:sp>
        <p:nvSpPr>
          <p:cNvPr id="9" name="Text 7"/>
          <p:cNvSpPr/>
          <p:nvPr/>
        </p:nvSpPr>
        <p:spPr>
          <a:xfrm>
            <a:off x="1554480" y="2468880"/>
            <a:ext cx="7132320" cy="384048"/>
          </a:xfrm>
          <a:prstGeom prst="rect">
            <a:avLst/>
          </a:prstGeom>
          <a:noFill/>
          <a:ln/>
        </p:spPr>
        <p:txBody>
          <a:bodyPr wrap="square" lIns="0" tIns="0" rIns="0" bIns="0" rtlCol="0" anchor="ctr"/>
          <a:lstStyle/>
          <a:p>
            <a:pPr indent="0" marL="0">
              <a:buNone/>
            </a:pPr>
            <a:r>
              <a:rPr lang="en-US" sz="2000" b="1" dirty="0">
                <a:solidFill>
                  <a:srgbClr val="003B70"/>
                </a:solidFill>
                <a:latin typeface="Calibri" pitchFamily="34" charset="0"/>
                <a:ea typeface="Calibri" pitchFamily="34" charset="-122"/>
                <a:cs typeface="Calibri" pitchFamily="34" charset="-120"/>
              </a:rPr>
              <a:t>The spec-driven kit we built</a:t>
            </a:r>
            <a:endParaRPr lang="en-US" sz="2000" dirty="0"/>
          </a:p>
        </p:txBody>
      </p:sp>
      <p:sp>
        <p:nvSpPr>
          <p:cNvPr id="10" name="Text 8"/>
          <p:cNvSpPr/>
          <p:nvPr/>
        </p:nvSpPr>
        <p:spPr>
          <a:xfrm>
            <a:off x="1554480" y="2880360"/>
            <a:ext cx="7132320" cy="365760"/>
          </a:xfrm>
          <a:prstGeom prst="rect">
            <a:avLst/>
          </a:prstGeom>
          <a:noFill/>
          <a:ln/>
        </p:spPr>
        <p:txBody>
          <a:bodyPr wrap="square" lIns="0" tIns="0" rIns="0" bIns="0" rtlCol="0" anchor="ctr"/>
          <a:lstStyle/>
          <a:p>
            <a:pPr indent="0" marL="0">
              <a:buNone/>
            </a:pPr>
            <a:r>
              <a:rPr lang="en-US" sz="1400" dirty="0">
                <a:solidFill>
                  <a:srgbClr val="5B6A82"/>
                </a:solidFill>
                <a:latin typeface="Calibri" pitchFamily="34" charset="0"/>
                <a:ea typeface="Calibri" pitchFamily="34" charset="-122"/>
                <a:cs typeface="Calibri" pitchFamily="34" charset="-120"/>
              </a:rPr>
              <a:t>to keep AI output consistent across both tools</a:t>
            </a:r>
            <a:endParaRPr lang="en-US" sz="1400" dirty="0"/>
          </a:p>
        </p:txBody>
      </p:sp>
      <p:sp>
        <p:nvSpPr>
          <p:cNvPr id="11" name="Text 9"/>
          <p:cNvSpPr/>
          <p:nvPr/>
        </p:nvSpPr>
        <p:spPr>
          <a:xfrm>
            <a:off x="548640" y="3474720"/>
            <a:ext cx="1005840" cy="822960"/>
          </a:xfrm>
          <a:prstGeom prst="rect">
            <a:avLst/>
          </a:prstGeom>
          <a:noFill/>
          <a:ln/>
        </p:spPr>
        <p:txBody>
          <a:bodyPr wrap="square" lIns="0" tIns="0" rIns="0" bIns="0" rtlCol="0" anchor="t"/>
          <a:lstStyle/>
          <a:p>
            <a:pPr indent="0" marL="0">
              <a:buNone/>
            </a:pPr>
            <a:r>
              <a:rPr lang="en-US" sz="4800" b="1" dirty="0">
                <a:solidFill>
                  <a:srgbClr val="D9261C"/>
                </a:solidFill>
                <a:latin typeface="Georgia" pitchFamily="34" charset="0"/>
                <a:ea typeface="Georgia" pitchFamily="34" charset="-122"/>
                <a:cs typeface="Georgia" pitchFamily="34" charset="-120"/>
              </a:rPr>
              <a:t>03</a:t>
            </a:r>
            <a:endParaRPr lang="en-US" sz="4800" dirty="0"/>
          </a:p>
        </p:txBody>
      </p:sp>
      <p:sp>
        <p:nvSpPr>
          <p:cNvPr id="12" name="Text 10"/>
          <p:cNvSpPr/>
          <p:nvPr/>
        </p:nvSpPr>
        <p:spPr>
          <a:xfrm>
            <a:off x="1554480" y="3520440"/>
            <a:ext cx="7132320" cy="384048"/>
          </a:xfrm>
          <a:prstGeom prst="rect">
            <a:avLst/>
          </a:prstGeom>
          <a:noFill/>
          <a:ln/>
        </p:spPr>
        <p:txBody>
          <a:bodyPr wrap="square" lIns="0" tIns="0" rIns="0" bIns="0" rtlCol="0" anchor="ctr"/>
          <a:lstStyle/>
          <a:p>
            <a:pPr indent="0" marL="0">
              <a:buNone/>
            </a:pPr>
            <a:r>
              <a:rPr lang="en-US" sz="2000" b="1" dirty="0">
                <a:solidFill>
                  <a:srgbClr val="003B70"/>
                </a:solidFill>
                <a:latin typeface="Calibri" pitchFamily="34" charset="0"/>
                <a:ea typeface="Calibri" pitchFamily="34" charset="-122"/>
                <a:cs typeface="Calibri" pitchFamily="34" charset="-120"/>
              </a:rPr>
              <a:t>Skills, schemas, and standards</a:t>
            </a:r>
            <a:endParaRPr lang="en-US" sz="2000" dirty="0"/>
          </a:p>
        </p:txBody>
      </p:sp>
      <p:sp>
        <p:nvSpPr>
          <p:cNvPr id="13" name="Text 11"/>
          <p:cNvSpPr/>
          <p:nvPr/>
        </p:nvSpPr>
        <p:spPr>
          <a:xfrm>
            <a:off x="1554480" y="3931920"/>
            <a:ext cx="7132320" cy="365760"/>
          </a:xfrm>
          <a:prstGeom prst="rect">
            <a:avLst/>
          </a:prstGeom>
          <a:noFill/>
          <a:ln/>
        </p:spPr>
        <p:txBody>
          <a:bodyPr wrap="square" lIns="0" tIns="0" rIns="0" bIns="0" rtlCol="0" anchor="ctr"/>
          <a:lstStyle/>
          <a:p>
            <a:pPr indent="0" marL="0">
              <a:buNone/>
            </a:pPr>
            <a:r>
              <a:rPr lang="en-US" sz="1400" dirty="0">
                <a:solidFill>
                  <a:srgbClr val="5B6A82"/>
                </a:solidFill>
                <a:latin typeface="Calibri" pitchFamily="34" charset="0"/>
                <a:ea typeface="Calibri" pitchFamily="34" charset="-122"/>
                <a:cs typeface="Calibri" pitchFamily="34" charset="-120"/>
              </a:rPr>
              <a:t>as a reusable kit your team can adopt</a:t>
            </a:r>
            <a:endParaRPr lang="en-US" sz="1400" dirty="0"/>
          </a:p>
        </p:txBody>
      </p:sp>
      <p:sp>
        <p:nvSpPr>
          <p:cNvPr id="14" name="Text 12"/>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3 / 19</a:t>
            </a:r>
            <a:endParaRPr lang="en-US" sz="900" dirty="0"/>
          </a:p>
        </p:txBody>
      </p:sp>
      <p:sp>
        <p:nvSpPr>
          <p:cNvPr id="15" name="Text 13"/>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Same prompt. Different output. Every time.</a:t>
            </a:r>
            <a:endParaRPr lang="en-US" sz="2600" dirty="0"/>
          </a:p>
        </p:txBody>
      </p:sp>
      <p:sp>
        <p:nvSpPr>
          <p:cNvPr id="5" name="Shape 3"/>
          <p:cNvSpPr/>
          <p:nvPr/>
        </p:nvSpPr>
        <p:spPr>
          <a:xfrm>
            <a:off x="457200" y="1371600"/>
            <a:ext cx="8229600" cy="54864"/>
          </a:xfrm>
          <a:prstGeom prst="rect">
            <a:avLst/>
          </a:prstGeom>
          <a:solidFill>
            <a:srgbClr val="D9261C"/>
          </a:solidFill>
          <a:ln/>
        </p:spPr>
      </p:sp>
      <p:sp>
        <p:nvSpPr>
          <p:cNvPr id="6" name="Text 4"/>
          <p:cNvSpPr/>
          <p:nvPr/>
        </p:nvSpPr>
        <p:spPr>
          <a:xfrm>
            <a:off x="640080" y="1691640"/>
            <a:ext cx="7863840" cy="2743200"/>
          </a:xfrm>
          <a:prstGeom prst="rect">
            <a:avLst/>
          </a:prstGeom>
          <a:noFill/>
          <a:ln/>
        </p:spPr>
        <p:txBody>
          <a:bodyPr wrap="square" lIns="0" tIns="0" rIns="0" bIns="0" rtlCol="0" anchor="ctr"/>
          <a:lstStyle/>
          <a:p>
            <a:pPr indent="0" marL="0">
              <a:spcAft>
                <a:spcPts val="600"/>
              </a:spcAft>
              <a:buNone/>
            </a:pPr>
            <a:r>
              <a:rPr lang="en-US" sz="2000" b="1" dirty="0">
                <a:solidFill>
                  <a:srgbClr val="0F1A2C"/>
                </a:solidFill>
                <a:latin typeface="Georgia" pitchFamily="34" charset="0"/>
                <a:ea typeface="Georgia" pitchFamily="34" charset="-122"/>
                <a:cs typeface="Georgia" pitchFamily="34" charset="-120"/>
              </a:rPr>
              <a:t>A developer asks Copilot for a new grid widget.</a:t>
            </a:r>
            <a:endParaRPr lang="en-US" sz="2000" dirty="0"/>
          </a:p>
          <a:p>
            <a:pPr indent="0" marL="0">
              <a:spcAft>
                <a:spcPts val="600"/>
              </a:spcAft>
              <a:buNone/>
            </a:pPr>
            <a:r>
              <a:rPr lang="en-US" sz="2000" dirty="0">
                <a:solidFill>
                  <a:srgbClr val="0F1A2C"/>
                </a:solidFill>
                <a:latin typeface="Georgia" pitchFamily="34" charset="0"/>
                <a:ea typeface="Georgia" pitchFamily="34" charset="-122"/>
                <a:cs typeface="Georgia" pitchFamily="34" charset="-120"/>
              </a:rPr>
              <a:t>Two days later, a different developer asks Devin for the same thing.</a:t>
            </a:r>
            <a:endParaRPr lang="en-US" sz="2000" dirty="0"/>
          </a:p>
          <a:p>
            <a:pPr indent="0" marL="0">
              <a:spcAft>
                <a:spcPts val="600"/>
              </a:spcAft>
              <a:buNone/>
            </a:pPr>
            <a:r>
              <a:rPr lang="en-US" sz="600" dirty="0">
                <a:solidFill>
                  <a:srgbClr val="0F1A2C"/>
                </a:solidFill>
                <a:latin typeface="Georgia" pitchFamily="34" charset="0"/>
                <a:ea typeface="Georgia" pitchFamily="34" charset="-122"/>
                <a:cs typeface="Georgia" pitchFamily="34" charset="-120"/>
              </a:rPr>
              <a:t> </a:t>
            </a:r>
            <a:endParaRPr lang="en-US" sz="2000" dirty="0"/>
          </a:p>
          <a:p>
            <a:pPr indent="0" marL="0">
              <a:spcAft>
                <a:spcPts val="600"/>
              </a:spcAft>
              <a:buNone/>
            </a:pPr>
            <a:r>
              <a:rPr lang="en-US" sz="2000" dirty="0">
                <a:solidFill>
                  <a:srgbClr val="0F1A2C"/>
                </a:solidFill>
                <a:latin typeface="Georgia" pitchFamily="34" charset="0"/>
                <a:ea typeface="Georgia" pitchFamily="34" charset="-122"/>
                <a:cs typeface="Georgia" pitchFamily="34" charset="-120"/>
              </a:rPr>
              <a:t>They get two different implementations.</a:t>
            </a:r>
            <a:endParaRPr lang="en-US" sz="2000" dirty="0"/>
          </a:p>
          <a:p>
            <a:pPr indent="0" marL="0">
              <a:spcAft>
                <a:spcPts val="600"/>
              </a:spcAft>
              <a:buNone/>
            </a:pPr>
            <a:r>
              <a:rPr lang="en-US" sz="2000" dirty="0">
                <a:solidFill>
                  <a:srgbClr val="0F1A2C"/>
                </a:solidFill>
                <a:latin typeface="Georgia" pitchFamily="34" charset="0"/>
                <a:ea typeface="Georgia" pitchFamily="34" charset="-122"/>
                <a:cs typeface="Georgia" pitchFamily="34" charset="-120"/>
              </a:rPr>
              <a:t>Different patterns. Different conventions. Both technically work.</a:t>
            </a:r>
            <a:endParaRPr lang="en-US" sz="2000" dirty="0"/>
          </a:p>
          <a:p>
            <a:pPr indent="0" marL="0">
              <a:spcAft>
                <a:spcPts val="600"/>
              </a:spcAft>
              <a:buNone/>
            </a:pPr>
            <a:r>
              <a:rPr lang="en-US" sz="600" dirty="0">
                <a:solidFill>
                  <a:srgbClr val="0F1A2C"/>
                </a:solidFill>
                <a:latin typeface="Georgia" pitchFamily="34" charset="0"/>
                <a:ea typeface="Georgia" pitchFamily="34" charset="-122"/>
                <a:cs typeface="Georgia" pitchFamily="34" charset="-120"/>
              </a:rPr>
              <a:t> </a:t>
            </a:r>
            <a:endParaRPr lang="en-US" sz="2000" dirty="0"/>
          </a:p>
          <a:p>
            <a:pPr indent="0" marL="0">
              <a:spcAft>
                <a:spcPts val="600"/>
              </a:spcAft>
              <a:buNone/>
            </a:pPr>
            <a:r>
              <a:rPr lang="en-US" sz="2000" b="1" i="1" dirty="0">
                <a:solidFill>
                  <a:srgbClr val="D9261C"/>
                </a:solidFill>
                <a:latin typeface="Georgia" pitchFamily="34" charset="0"/>
                <a:ea typeface="Georgia" pitchFamily="34" charset="-122"/>
                <a:cs typeface="Georgia" pitchFamily="34" charset="-120"/>
              </a:rPr>
              <a:t>Now multiply that by every developer, every tool, every week.</a:t>
            </a:r>
            <a:endParaRPr lang="en-US" sz="2000" dirty="0"/>
          </a:p>
        </p:txBody>
      </p:sp>
      <p:sp>
        <p:nvSpPr>
          <p:cNvPr id="7" name="Text 5"/>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4 / 19</a:t>
            </a:r>
            <a:endParaRPr lang="en-US" sz="900" dirty="0"/>
          </a:p>
        </p:txBody>
      </p:sp>
      <p:sp>
        <p:nvSpPr>
          <p:cNvPr id="8" name="Text 6"/>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WHY NOW</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Autonomous agents raised the stakes</a:t>
            </a:r>
            <a:endParaRPr lang="en-US" sz="2600" dirty="0"/>
          </a:p>
        </p:txBody>
      </p:sp>
      <p:sp>
        <p:nvSpPr>
          <p:cNvPr id="5" name="Shape 3"/>
          <p:cNvSpPr/>
          <p:nvPr/>
        </p:nvSpPr>
        <p:spPr>
          <a:xfrm>
            <a:off x="457200" y="1463040"/>
            <a:ext cx="4023360" cy="3200400"/>
          </a:xfrm>
          <a:prstGeom prst="rect">
            <a:avLst/>
          </a:prstGeom>
          <a:solidFill>
            <a:srgbClr val="F4F6FA"/>
          </a:solidFill>
          <a:ln w="12700">
            <a:solidFill>
              <a:srgbClr val="D6DEEB"/>
            </a:solidFill>
            <a:prstDash val="solid"/>
          </a:ln>
        </p:spPr>
      </p:sp>
      <p:sp>
        <p:nvSpPr>
          <p:cNvPr id="6" name="Shape 4"/>
          <p:cNvSpPr/>
          <p:nvPr/>
        </p:nvSpPr>
        <p:spPr>
          <a:xfrm>
            <a:off x="457200" y="1463040"/>
            <a:ext cx="4023360" cy="73152"/>
          </a:xfrm>
          <a:prstGeom prst="rect">
            <a:avLst/>
          </a:prstGeom>
          <a:solidFill>
            <a:srgbClr val="003B70"/>
          </a:solidFill>
          <a:ln/>
        </p:spPr>
      </p:sp>
      <p:sp>
        <p:nvSpPr>
          <p:cNvPr id="7" name="Text 5"/>
          <p:cNvSpPr/>
          <p:nvPr/>
        </p:nvSpPr>
        <p:spPr>
          <a:xfrm>
            <a:off x="685800" y="1645920"/>
            <a:ext cx="3657600" cy="22860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COPILOT</a:t>
            </a:r>
            <a:endParaRPr lang="en-US" sz="1100" dirty="0"/>
          </a:p>
        </p:txBody>
      </p:sp>
      <p:sp>
        <p:nvSpPr>
          <p:cNvPr id="8" name="Text 6"/>
          <p:cNvSpPr/>
          <p:nvPr/>
        </p:nvSpPr>
        <p:spPr>
          <a:xfrm>
            <a:off x="685800" y="1874520"/>
            <a:ext cx="3657600" cy="411480"/>
          </a:xfrm>
          <a:prstGeom prst="rect">
            <a:avLst/>
          </a:prstGeom>
          <a:noFill/>
          <a:ln/>
        </p:spPr>
        <p:txBody>
          <a:bodyPr wrap="square" lIns="0" tIns="0" rIns="0" bIns="0" rtlCol="0" anchor="ctr"/>
          <a:lstStyle/>
          <a:p>
            <a:pPr indent="0" marL="0">
              <a:buNone/>
            </a:pPr>
            <a:r>
              <a:rPr lang="en-US" sz="2200" b="1" dirty="0">
                <a:solidFill>
                  <a:srgbClr val="003B70"/>
                </a:solidFill>
                <a:latin typeface="Georgia" pitchFamily="34" charset="0"/>
                <a:ea typeface="Georgia" pitchFamily="34" charset="-122"/>
                <a:cs typeface="Georgia" pitchFamily="34" charset="-120"/>
              </a:rPr>
              <a:t>Inline. Real time.</a:t>
            </a:r>
            <a:endParaRPr lang="en-US" sz="2200" dirty="0"/>
          </a:p>
        </p:txBody>
      </p:sp>
      <p:sp>
        <p:nvSpPr>
          <p:cNvPr id="9" name="Text 7"/>
          <p:cNvSpPr/>
          <p:nvPr/>
        </p:nvSpPr>
        <p:spPr>
          <a:xfrm>
            <a:off x="777240" y="2468880"/>
            <a:ext cx="3566160" cy="2011680"/>
          </a:xfrm>
          <a:prstGeom prst="rect">
            <a:avLst/>
          </a:prstGeom>
          <a:noFill/>
          <a:ln/>
        </p:spPr>
        <p:txBody>
          <a:bodyPr wrap="square" rtlCol="0" anchor="ctr"/>
          <a:lstStyle/>
          <a:p>
            <a:pPr marL="342900" indent="-342900">
              <a:spcAft>
                <a:spcPts val="800"/>
              </a:spcAft>
              <a:buSzPct val="100000"/>
              <a:buChar char="•"/>
            </a:pPr>
            <a:r>
              <a:rPr lang="en-US" sz="1400" dirty="0">
                <a:solidFill>
                  <a:srgbClr val="0F1A2C"/>
                </a:solidFill>
                <a:latin typeface="Calibri" pitchFamily="34" charset="0"/>
                <a:ea typeface="Calibri" pitchFamily="34" charset="-122"/>
                <a:cs typeface="Calibri" pitchFamily="34" charset="-120"/>
              </a:rPr>
              <a:t>You watch every suggestion</a:t>
            </a:r>
            <a:endParaRPr lang="en-US" sz="1400" dirty="0"/>
          </a:p>
          <a:p>
            <a:pPr marL="342900" indent="-342900">
              <a:spcAft>
                <a:spcPts val="800"/>
              </a:spcAft>
              <a:buSzPct val="100000"/>
              <a:buChar char="•"/>
            </a:pPr>
            <a:r>
              <a:rPr lang="en-US" sz="1400" dirty="0">
                <a:solidFill>
                  <a:srgbClr val="0F1A2C"/>
                </a:solidFill>
                <a:latin typeface="Calibri" pitchFamily="34" charset="0"/>
                <a:ea typeface="Calibri" pitchFamily="34" charset="-122"/>
                <a:cs typeface="Calibri" pitchFamily="34" charset="-120"/>
              </a:rPr>
              <a:t>You catch drift as it happens</a:t>
            </a:r>
            <a:endParaRPr lang="en-US" sz="1400" dirty="0"/>
          </a:p>
          <a:p>
            <a:pPr marL="342900" indent="-342900">
              <a:spcAft>
                <a:spcPts val="800"/>
              </a:spcAft>
              <a:buSzPct val="100000"/>
              <a:buChar char="•"/>
            </a:pPr>
            <a:r>
              <a:rPr lang="en-US" sz="1400" b="1" dirty="0">
                <a:solidFill>
                  <a:srgbClr val="0F1A2C"/>
                </a:solidFill>
                <a:latin typeface="Calibri" pitchFamily="34" charset="0"/>
                <a:ea typeface="Calibri" pitchFamily="34" charset="-122"/>
                <a:cs typeface="Calibri" pitchFamily="34" charset="-120"/>
              </a:rPr>
              <a:t>You are the human in the loop</a:t>
            </a:r>
            <a:endParaRPr lang="en-US" sz="1400" dirty="0"/>
          </a:p>
        </p:txBody>
      </p:sp>
      <p:sp>
        <p:nvSpPr>
          <p:cNvPr id="10" name="Shape 8"/>
          <p:cNvSpPr/>
          <p:nvPr/>
        </p:nvSpPr>
        <p:spPr>
          <a:xfrm>
            <a:off x="4663440" y="1463040"/>
            <a:ext cx="4023360" cy="3200400"/>
          </a:xfrm>
          <a:prstGeom prst="rect">
            <a:avLst/>
          </a:prstGeom>
          <a:solidFill>
            <a:srgbClr val="F4F6FA"/>
          </a:solidFill>
          <a:ln w="12700">
            <a:solidFill>
              <a:srgbClr val="D6DEEB"/>
            </a:solidFill>
            <a:prstDash val="solid"/>
          </a:ln>
        </p:spPr>
      </p:sp>
      <p:sp>
        <p:nvSpPr>
          <p:cNvPr id="11" name="Shape 9"/>
          <p:cNvSpPr/>
          <p:nvPr/>
        </p:nvSpPr>
        <p:spPr>
          <a:xfrm>
            <a:off x="4663440" y="1463040"/>
            <a:ext cx="4023360" cy="73152"/>
          </a:xfrm>
          <a:prstGeom prst="rect">
            <a:avLst/>
          </a:prstGeom>
          <a:solidFill>
            <a:srgbClr val="D9261C"/>
          </a:solidFill>
          <a:ln/>
        </p:spPr>
      </p:sp>
      <p:sp>
        <p:nvSpPr>
          <p:cNvPr id="12" name="Text 10"/>
          <p:cNvSpPr/>
          <p:nvPr/>
        </p:nvSpPr>
        <p:spPr>
          <a:xfrm>
            <a:off x="4892040" y="1645920"/>
            <a:ext cx="3657600" cy="22860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DEVIN</a:t>
            </a:r>
            <a:endParaRPr lang="en-US" sz="1100" dirty="0"/>
          </a:p>
        </p:txBody>
      </p:sp>
      <p:sp>
        <p:nvSpPr>
          <p:cNvPr id="13" name="Text 11"/>
          <p:cNvSpPr/>
          <p:nvPr/>
        </p:nvSpPr>
        <p:spPr>
          <a:xfrm>
            <a:off x="4892040" y="1874520"/>
            <a:ext cx="3657600" cy="411480"/>
          </a:xfrm>
          <a:prstGeom prst="rect">
            <a:avLst/>
          </a:prstGeom>
          <a:noFill/>
          <a:ln/>
        </p:spPr>
        <p:txBody>
          <a:bodyPr wrap="square" lIns="0" tIns="0" rIns="0" bIns="0" rtlCol="0" anchor="ctr"/>
          <a:lstStyle/>
          <a:p>
            <a:pPr indent="0" marL="0">
              <a:buNone/>
            </a:pPr>
            <a:r>
              <a:rPr lang="en-US" sz="2200" b="1" dirty="0">
                <a:solidFill>
                  <a:srgbClr val="003B70"/>
                </a:solidFill>
                <a:latin typeface="Georgia" pitchFamily="34" charset="0"/>
                <a:ea typeface="Georgia" pitchFamily="34" charset="-122"/>
                <a:cs typeface="Georgia" pitchFamily="34" charset="-120"/>
              </a:rPr>
              <a:t>Autonomous. Async.</a:t>
            </a:r>
            <a:endParaRPr lang="en-US" sz="2200" dirty="0"/>
          </a:p>
        </p:txBody>
      </p:sp>
      <p:sp>
        <p:nvSpPr>
          <p:cNvPr id="14" name="Text 12"/>
          <p:cNvSpPr/>
          <p:nvPr/>
        </p:nvSpPr>
        <p:spPr>
          <a:xfrm>
            <a:off x="4983480" y="2468880"/>
            <a:ext cx="3566160" cy="2011680"/>
          </a:xfrm>
          <a:prstGeom prst="rect">
            <a:avLst/>
          </a:prstGeom>
          <a:noFill/>
          <a:ln/>
        </p:spPr>
        <p:txBody>
          <a:bodyPr wrap="square" rtlCol="0" anchor="ctr"/>
          <a:lstStyle/>
          <a:p>
            <a:pPr marL="342900" indent="-342900">
              <a:spcAft>
                <a:spcPts val="800"/>
              </a:spcAft>
              <a:buSzPct val="100000"/>
              <a:buChar char="•"/>
            </a:pPr>
            <a:r>
              <a:rPr lang="en-US" sz="1400" dirty="0">
                <a:solidFill>
                  <a:srgbClr val="0F1A2C"/>
                </a:solidFill>
                <a:latin typeface="Calibri" pitchFamily="34" charset="0"/>
                <a:ea typeface="Calibri" pitchFamily="34" charset="-122"/>
                <a:cs typeface="Calibri" pitchFamily="34" charset="-120"/>
              </a:rPr>
              <a:t>Runs for an hour without you</a:t>
            </a:r>
            <a:endParaRPr lang="en-US" sz="1400" dirty="0"/>
          </a:p>
          <a:p>
            <a:pPr marL="342900" indent="-342900">
              <a:spcAft>
                <a:spcPts val="800"/>
              </a:spcAft>
              <a:buSzPct val="100000"/>
              <a:buChar char="•"/>
            </a:pPr>
            <a:r>
              <a:rPr lang="en-US" sz="1400" dirty="0">
                <a:solidFill>
                  <a:srgbClr val="0F1A2C"/>
                </a:solidFill>
                <a:latin typeface="Calibri" pitchFamily="34" charset="0"/>
                <a:ea typeface="Calibri" pitchFamily="34" charset="-122"/>
                <a:cs typeface="Calibri" pitchFamily="34" charset="-120"/>
              </a:rPr>
              <a:t>No real-time correction</a:t>
            </a:r>
            <a:endParaRPr lang="en-US" sz="1400" dirty="0"/>
          </a:p>
          <a:p>
            <a:pPr marL="342900" indent="-342900">
              <a:spcAft>
                <a:spcPts val="800"/>
              </a:spcAft>
              <a:buSzPct val="100000"/>
              <a:buChar char="•"/>
            </a:pPr>
            <a:r>
              <a:rPr lang="en-US" sz="1400" b="1" dirty="0">
                <a:solidFill>
                  <a:srgbClr val="0F1A2C"/>
                </a:solidFill>
                <a:latin typeface="Calibri" pitchFamily="34" charset="0"/>
                <a:ea typeface="Calibri" pitchFamily="34" charset="-122"/>
                <a:cs typeface="Calibri" pitchFamily="34" charset="-120"/>
              </a:rPr>
              <a:t>The standards file IS the human in the loop</a:t>
            </a:r>
            <a:endParaRPr lang="en-US" sz="1400" dirty="0"/>
          </a:p>
        </p:txBody>
      </p:sp>
      <p:sp>
        <p:nvSpPr>
          <p:cNvPr id="15" name="Text 13"/>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5 / 19</a:t>
            </a:r>
            <a:endParaRPr lang="en-US" sz="900" dirty="0"/>
          </a:p>
        </p:txBody>
      </p:sp>
      <p:sp>
        <p:nvSpPr>
          <p:cNvPr id="16" name="Text 14"/>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LEVEL SET</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Devin — quick primer</a:t>
            </a:r>
            <a:endParaRPr lang="en-US" sz="2600" dirty="0"/>
          </a:p>
        </p:txBody>
      </p:sp>
      <p:sp>
        <p:nvSpPr>
          <p:cNvPr id="5" name="Shape 3"/>
          <p:cNvSpPr/>
          <p:nvPr/>
        </p:nvSpPr>
        <p:spPr>
          <a:xfrm>
            <a:off x="457200" y="1417320"/>
            <a:ext cx="4023360" cy="1554480"/>
          </a:xfrm>
          <a:prstGeom prst="rect">
            <a:avLst/>
          </a:prstGeom>
          <a:solidFill>
            <a:srgbClr val="FFFFFF"/>
          </a:solidFill>
          <a:ln w="12700">
            <a:solidFill>
              <a:srgbClr val="D6DEEB"/>
            </a:solidFill>
            <a:prstDash val="solid"/>
          </a:ln>
        </p:spPr>
      </p:sp>
      <p:sp>
        <p:nvSpPr>
          <p:cNvPr id="6" name="Shape 4"/>
          <p:cNvSpPr/>
          <p:nvPr/>
        </p:nvSpPr>
        <p:spPr>
          <a:xfrm>
            <a:off x="640080" y="1645920"/>
            <a:ext cx="548640" cy="548640"/>
          </a:xfrm>
          <a:prstGeom prst="ellipse">
            <a:avLst/>
          </a:prstGeom>
          <a:solidFill>
            <a:srgbClr val="003B70"/>
          </a:solidFill>
          <a:ln/>
        </p:spPr>
      </p:sp>
      <p:pic>
        <p:nvPicPr>
          <p:cNvPr id="7" name="Image 0" descr="preencoded.png">    </p:cNvPr>
          <p:cNvPicPr>
            <a:picLocks noChangeAspect="1"/>
          </p:cNvPicPr>
          <p:nvPr/>
        </p:nvPicPr>
        <p:blipFill>
          <a:blip r:embed="rId1"/>
          <a:stretch>
            <a:fillRect/>
          </a:stretch>
        </p:blipFill>
        <p:spPr>
          <a:xfrm>
            <a:off x="731520" y="1737360"/>
            <a:ext cx="365760" cy="365760"/>
          </a:xfrm>
          <a:prstGeom prst="rect">
            <a:avLst/>
          </a:prstGeom>
        </p:spPr>
      </p:pic>
      <p:sp>
        <p:nvSpPr>
          <p:cNvPr id="8" name="Text 5"/>
          <p:cNvSpPr/>
          <p:nvPr/>
        </p:nvSpPr>
        <p:spPr>
          <a:xfrm>
            <a:off x="1325880" y="1673352"/>
            <a:ext cx="3017520" cy="411480"/>
          </a:xfrm>
          <a:prstGeom prst="rect">
            <a:avLst/>
          </a:prstGeom>
          <a:noFill/>
          <a:ln/>
        </p:spPr>
        <p:txBody>
          <a:bodyPr wrap="square" lIns="0" tIns="0" rIns="0" bIns="0" rtlCol="0" anchor="ctr"/>
          <a:lstStyle/>
          <a:p>
            <a:pPr indent="0" marL="0">
              <a:buNone/>
            </a:pPr>
            <a:r>
              <a:rPr lang="en-US" sz="2000" b="1" dirty="0">
                <a:solidFill>
                  <a:srgbClr val="003B70"/>
                </a:solidFill>
                <a:latin typeface="Georgia" pitchFamily="34" charset="0"/>
                <a:ea typeface="Georgia" pitchFamily="34" charset="-122"/>
                <a:cs typeface="Georgia" pitchFamily="34" charset="-120"/>
              </a:rPr>
              <a:t>Sessions</a:t>
            </a:r>
            <a:endParaRPr lang="en-US" sz="2000" dirty="0"/>
          </a:p>
        </p:txBody>
      </p:sp>
      <p:sp>
        <p:nvSpPr>
          <p:cNvPr id="9" name="Text 6"/>
          <p:cNvSpPr/>
          <p:nvPr/>
        </p:nvSpPr>
        <p:spPr>
          <a:xfrm>
            <a:off x="640080" y="2286000"/>
            <a:ext cx="3657600" cy="594360"/>
          </a:xfrm>
          <a:prstGeom prst="rect">
            <a:avLst/>
          </a:prstGeom>
          <a:noFill/>
          <a:ln/>
        </p:spPr>
        <p:txBody>
          <a:bodyPr wrap="square" lIns="0" tIns="0" rIns="0" bIns="0" rtlCol="0" anchor="ctr"/>
          <a:lstStyle/>
          <a:p>
            <a:pPr indent="0" marL="0">
              <a:buNone/>
            </a:pPr>
            <a:r>
              <a:rPr lang="en-US" sz="1200" dirty="0">
                <a:solidFill>
                  <a:srgbClr val="0F1A2C"/>
                </a:solidFill>
                <a:latin typeface="Calibri" pitchFamily="34" charset="0"/>
                <a:ea typeface="Calibri" pitchFamily="34" charset="-122"/>
                <a:cs typeface="Calibri" pitchFamily="34" charset="-120"/>
              </a:rPr>
              <a:t>Autonomous async work. Picks up a ticket, runs in its own VM, opens a PR.</a:t>
            </a:r>
            <a:endParaRPr lang="en-US" sz="1200" dirty="0"/>
          </a:p>
        </p:txBody>
      </p:sp>
      <p:sp>
        <p:nvSpPr>
          <p:cNvPr id="10" name="Shape 7"/>
          <p:cNvSpPr/>
          <p:nvPr/>
        </p:nvSpPr>
        <p:spPr>
          <a:xfrm>
            <a:off x="4663440" y="1417320"/>
            <a:ext cx="4023360" cy="1554480"/>
          </a:xfrm>
          <a:prstGeom prst="rect">
            <a:avLst/>
          </a:prstGeom>
          <a:solidFill>
            <a:srgbClr val="FFFFFF"/>
          </a:solidFill>
          <a:ln w="12700">
            <a:solidFill>
              <a:srgbClr val="D6DEEB"/>
            </a:solidFill>
            <a:prstDash val="solid"/>
          </a:ln>
        </p:spPr>
      </p:sp>
      <p:sp>
        <p:nvSpPr>
          <p:cNvPr id="11" name="Shape 8"/>
          <p:cNvSpPr/>
          <p:nvPr/>
        </p:nvSpPr>
        <p:spPr>
          <a:xfrm>
            <a:off x="4846320" y="1645920"/>
            <a:ext cx="548640" cy="548640"/>
          </a:xfrm>
          <a:prstGeom prst="ellipse">
            <a:avLst/>
          </a:prstGeom>
          <a:solidFill>
            <a:srgbClr val="003B70"/>
          </a:solidFill>
          <a:ln/>
        </p:spPr>
      </p:sp>
      <p:pic>
        <p:nvPicPr>
          <p:cNvPr id="12" name="Image 1" descr="preencoded.png">    </p:cNvPr>
          <p:cNvPicPr>
            <a:picLocks noChangeAspect="1"/>
          </p:cNvPicPr>
          <p:nvPr/>
        </p:nvPicPr>
        <p:blipFill>
          <a:blip r:embed="rId2"/>
          <a:stretch>
            <a:fillRect/>
          </a:stretch>
        </p:blipFill>
        <p:spPr>
          <a:xfrm>
            <a:off x="4937760" y="1737360"/>
            <a:ext cx="365760" cy="365760"/>
          </a:xfrm>
          <a:prstGeom prst="rect">
            <a:avLst/>
          </a:prstGeom>
        </p:spPr>
      </p:pic>
      <p:sp>
        <p:nvSpPr>
          <p:cNvPr id="13" name="Text 9"/>
          <p:cNvSpPr/>
          <p:nvPr/>
        </p:nvSpPr>
        <p:spPr>
          <a:xfrm>
            <a:off x="5532120" y="1673352"/>
            <a:ext cx="3017520" cy="411480"/>
          </a:xfrm>
          <a:prstGeom prst="rect">
            <a:avLst/>
          </a:prstGeom>
          <a:noFill/>
          <a:ln/>
        </p:spPr>
        <p:txBody>
          <a:bodyPr wrap="square" lIns="0" tIns="0" rIns="0" bIns="0" rtlCol="0" anchor="ctr"/>
          <a:lstStyle/>
          <a:p>
            <a:pPr indent="0" marL="0">
              <a:buNone/>
            </a:pPr>
            <a:r>
              <a:rPr lang="en-US" sz="2000" b="1" dirty="0">
                <a:solidFill>
                  <a:srgbClr val="003B70"/>
                </a:solidFill>
                <a:latin typeface="Georgia" pitchFamily="34" charset="0"/>
                <a:ea typeface="Georgia" pitchFamily="34" charset="-122"/>
                <a:cs typeface="Georgia" pitchFamily="34" charset="-120"/>
              </a:rPr>
              <a:t>Ask Devin</a:t>
            </a:r>
            <a:endParaRPr lang="en-US" sz="2000" dirty="0"/>
          </a:p>
        </p:txBody>
      </p:sp>
      <p:sp>
        <p:nvSpPr>
          <p:cNvPr id="14" name="Text 10"/>
          <p:cNvSpPr/>
          <p:nvPr/>
        </p:nvSpPr>
        <p:spPr>
          <a:xfrm>
            <a:off x="4846320" y="2286000"/>
            <a:ext cx="3657600" cy="594360"/>
          </a:xfrm>
          <a:prstGeom prst="rect">
            <a:avLst/>
          </a:prstGeom>
          <a:noFill/>
          <a:ln/>
        </p:spPr>
        <p:txBody>
          <a:bodyPr wrap="square" lIns="0" tIns="0" rIns="0" bIns="0" rtlCol="0" anchor="ctr"/>
          <a:lstStyle/>
          <a:p>
            <a:pPr indent="0" marL="0">
              <a:buNone/>
            </a:pPr>
            <a:r>
              <a:rPr lang="en-US" sz="1200" dirty="0">
                <a:solidFill>
                  <a:srgbClr val="0F1A2C"/>
                </a:solidFill>
                <a:latin typeface="Calibri" pitchFamily="34" charset="0"/>
                <a:ea typeface="Calibri" pitchFamily="34" charset="-122"/>
                <a:cs typeface="Calibri" pitchFamily="34" charset="-120"/>
              </a:rPr>
              <a:t>Conversational mode. Quick questions about a codebase, no session needed.</a:t>
            </a:r>
            <a:endParaRPr lang="en-US" sz="1200" dirty="0"/>
          </a:p>
        </p:txBody>
      </p:sp>
      <p:sp>
        <p:nvSpPr>
          <p:cNvPr id="15" name="Shape 11"/>
          <p:cNvSpPr/>
          <p:nvPr/>
        </p:nvSpPr>
        <p:spPr>
          <a:xfrm>
            <a:off x="457200" y="3108960"/>
            <a:ext cx="4023360" cy="1554480"/>
          </a:xfrm>
          <a:prstGeom prst="rect">
            <a:avLst/>
          </a:prstGeom>
          <a:solidFill>
            <a:srgbClr val="FFFFFF"/>
          </a:solidFill>
          <a:ln w="12700">
            <a:solidFill>
              <a:srgbClr val="D6DEEB"/>
            </a:solidFill>
            <a:prstDash val="solid"/>
          </a:ln>
        </p:spPr>
      </p:sp>
      <p:sp>
        <p:nvSpPr>
          <p:cNvPr id="16" name="Shape 12"/>
          <p:cNvSpPr/>
          <p:nvPr/>
        </p:nvSpPr>
        <p:spPr>
          <a:xfrm>
            <a:off x="640080" y="3337560"/>
            <a:ext cx="548640" cy="548640"/>
          </a:xfrm>
          <a:prstGeom prst="ellipse">
            <a:avLst/>
          </a:prstGeom>
          <a:solidFill>
            <a:srgbClr val="003B70"/>
          </a:solidFill>
          <a:ln/>
        </p:spPr>
      </p:sp>
      <p:pic>
        <p:nvPicPr>
          <p:cNvPr id="17" name="Image 2" descr="preencoded.png">    </p:cNvPr>
          <p:cNvPicPr>
            <a:picLocks noChangeAspect="1"/>
          </p:cNvPicPr>
          <p:nvPr/>
        </p:nvPicPr>
        <p:blipFill>
          <a:blip r:embed="rId3"/>
          <a:stretch>
            <a:fillRect/>
          </a:stretch>
        </p:blipFill>
        <p:spPr>
          <a:xfrm>
            <a:off x="731520" y="3429000"/>
            <a:ext cx="365760" cy="365760"/>
          </a:xfrm>
          <a:prstGeom prst="rect">
            <a:avLst/>
          </a:prstGeom>
        </p:spPr>
      </p:pic>
      <p:sp>
        <p:nvSpPr>
          <p:cNvPr id="18" name="Text 13"/>
          <p:cNvSpPr/>
          <p:nvPr/>
        </p:nvSpPr>
        <p:spPr>
          <a:xfrm>
            <a:off x="1325880" y="3364992"/>
            <a:ext cx="3017520" cy="411480"/>
          </a:xfrm>
          <a:prstGeom prst="rect">
            <a:avLst/>
          </a:prstGeom>
          <a:noFill/>
          <a:ln/>
        </p:spPr>
        <p:txBody>
          <a:bodyPr wrap="square" lIns="0" tIns="0" rIns="0" bIns="0" rtlCol="0" anchor="ctr"/>
          <a:lstStyle/>
          <a:p>
            <a:pPr indent="0" marL="0">
              <a:buNone/>
            </a:pPr>
            <a:r>
              <a:rPr lang="en-US" sz="2000" b="1" dirty="0">
                <a:solidFill>
                  <a:srgbClr val="003B70"/>
                </a:solidFill>
                <a:latin typeface="Georgia" pitchFamily="34" charset="0"/>
                <a:ea typeface="Georgia" pitchFamily="34" charset="-122"/>
                <a:cs typeface="Georgia" pitchFamily="34" charset="-120"/>
              </a:rPr>
              <a:t>DeepWiki</a:t>
            </a:r>
            <a:endParaRPr lang="en-US" sz="2000" dirty="0"/>
          </a:p>
        </p:txBody>
      </p:sp>
      <p:sp>
        <p:nvSpPr>
          <p:cNvPr id="19" name="Text 14"/>
          <p:cNvSpPr/>
          <p:nvPr/>
        </p:nvSpPr>
        <p:spPr>
          <a:xfrm>
            <a:off x="640080" y="3977640"/>
            <a:ext cx="3657600" cy="594360"/>
          </a:xfrm>
          <a:prstGeom prst="rect">
            <a:avLst/>
          </a:prstGeom>
          <a:noFill/>
          <a:ln/>
        </p:spPr>
        <p:txBody>
          <a:bodyPr wrap="square" lIns="0" tIns="0" rIns="0" bIns="0" rtlCol="0" anchor="ctr"/>
          <a:lstStyle/>
          <a:p>
            <a:pPr indent="0" marL="0">
              <a:buNone/>
            </a:pPr>
            <a:r>
              <a:rPr lang="en-US" sz="1200" dirty="0">
                <a:solidFill>
                  <a:srgbClr val="0F1A2C"/>
                </a:solidFill>
                <a:latin typeface="Calibri" pitchFamily="34" charset="0"/>
                <a:ea typeface="Calibri" pitchFamily="34" charset="-122"/>
                <a:cs typeface="Calibri" pitchFamily="34" charset="-120"/>
              </a:rPr>
              <a:t>Codebase research and Q&amp;A. Synthesized answers across files.</a:t>
            </a:r>
            <a:endParaRPr lang="en-US" sz="1200" dirty="0"/>
          </a:p>
        </p:txBody>
      </p:sp>
      <p:sp>
        <p:nvSpPr>
          <p:cNvPr id="20" name="Shape 15"/>
          <p:cNvSpPr/>
          <p:nvPr/>
        </p:nvSpPr>
        <p:spPr>
          <a:xfrm>
            <a:off x="4663440" y="3108960"/>
            <a:ext cx="4023360" cy="1554480"/>
          </a:xfrm>
          <a:prstGeom prst="rect">
            <a:avLst/>
          </a:prstGeom>
          <a:solidFill>
            <a:srgbClr val="FFFFFF"/>
          </a:solidFill>
          <a:ln w="12700">
            <a:solidFill>
              <a:srgbClr val="D6DEEB"/>
            </a:solidFill>
            <a:prstDash val="solid"/>
          </a:ln>
        </p:spPr>
      </p:sp>
      <p:sp>
        <p:nvSpPr>
          <p:cNvPr id="21" name="Shape 16"/>
          <p:cNvSpPr/>
          <p:nvPr/>
        </p:nvSpPr>
        <p:spPr>
          <a:xfrm>
            <a:off x="4846320" y="3337560"/>
            <a:ext cx="548640" cy="548640"/>
          </a:xfrm>
          <a:prstGeom prst="ellipse">
            <a:avLst/>
          </a:prstGeom>
          <a:solidFill>
            <a:srgbClr val="003B70"/>
          </a:solidFill>
          <a:ln/>
        </p:spPr>
      </p:sp>
      <p:pic>
        <p:nvPicPr>
          <p:cNvPr id="22" name="Image 3" descr="preencoded.png">    </p:cNvPr>
          <p:cNvPicPr>
            <a:picLocks noChangeAspect="1"/>
          </p:cNvPicPr>
          <p:nvPr/>
        </p:nvPicPr>
        <p:blipFill>
          <a:blip r:embed="rId4"/>
          <a:stretch>
            <a:fillRect/>
          </a:stretch>
        </p:blipFill>
        <p:spPr>
          <a:xfrm>
            <a:off x="4937760" y="3429000"/>
            <a:ext cx="365760" cy="365760"/>
          </a:xfrm>
          <a:prstGeom prst="rect">
            <a:avLst/>
          </a:prstGeom>
        </p:spPr>
      </p:pic>
      <p:sp>
        <p:nvSpPr>
          <p:cNvPr id="23" name="Text 17"/>
          <p:cNvSpPr/>
          <p:nvPr/>
        </p:nvSpPr>
        <p:spPr>
          <a:xfrm>
            <a:off x="5532120" y="3364992"/>
            <a:ext cx="3017520" cy="411480"/>
          </a:xfrm>
          <a:prstGeom prst="rect">
            <a:avLst/>
          </a:prstGeom>
          <a:noFill/>
          <a:ln/>
        </p:spPr>
        <p:txBody>
          <a:bodyPr wrap="square" lIns="0" tIns="0" rIns="0" bIns="0" rtlCol="0" anchor="ctr"/>
          <a:lstStyle/>
          <a:p>
            <a:pPr indent="0" marL="0">
              <a:buNone/>
            </a:pPr>
            <a:r>
              <a:rPr lang="en-US" sz="2000" b="1" dirty="0">
                <a:solidFill>
                  <a:srgbClr val="003B70"/>
                </a:solidFill>
                <a:latin typeface="Georgia" pitchFamily="34" charset="0"/>
                <a:ea typeface="Georgia" pitchFamily="34" charset="-122"/>
                <a:cs typeface="Georgia" pitchFamily="34" charset="-120"/>
              </a:rPr>
              <a:t>Multi-repo</a:t>
            </a:r>
            <a:endParaRPr lang="en-US" sz="2000" dirty="0"/>
          </a:p>
        </p:txBody>
      </p:sp>
      <p:sp>
        <p:nvSpPr>
          <p:cNvPr id="24" name="Text 18"/>
          <p:cNvSpPr/>
          <p:nvPr/>
        </p:nvSpPr>
        <p:spPr>
          <a:xfrm>
            <a:off x="4846320" y="3977640"/>
            <a:ext cx="3657600" cy="594360"/>
          </a:xfrm>
          <a:prstGeom prst="rect">
            <a:avLst/>
          </a:prstGeom>
          <a:noFill/>
          <a:ln/>
        </p:spPr>
        <p:txBody>
          <a:bodyPr wrap="square" lIns="0" tIns="0" rIns="0" bIns="0" rtlCol="0" anchor="ctr"/>
          <a:lstStyle/>
          <a:p>
            <a:pPr indent="0" marL="0">
              <a:buNone/>
            </a:pPr>
            <a:r>
              <a:rPr lang="en-US" sz="1200" dirty="0">
                <a:solidFill>
                  <a:srgbClr val="0F1A2C"/>
                </a:solidFill>
                <a:latin typeface="Calibri" pitchFamily="34" charset="0"/>
                <a:ea typeface="Calibri" pitchFamily="34" charset="-122"/>
                <a:cs typeface="Calibri" pitchFamily="34" charset="-120"/>
              </a:rPr>
              <a:t>Cross-cutting questions across multiple repos. Find patterns, services, usages.</a:t>
            </a:r>
            <a:endParaRPr lang="en-US" sz="1200" dirty="0"/>
          </a:p>
        </p:txBody>
      </p:sp>
      <p:sp>
        <p:nvSpPr>
          <p:cNvPr id="25" name="Text 19"/>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6 / 19</a:t>
            </a:r>
            <a:endParaRPr lang="en-US" sz="900" dirty="0"/>
          </a:p>
        </p:txBody>
      </p:sp>
      <p:sp>
        <p:nvSpPr>
          <p:cNvPr id="26" name="Text 20"/>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USE CASES</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What this looks like day-to-day</a:t>
            </a:r>
            <a:endParaRPr lang="en-US" sz="2600" dirty="0"/>
          </a:p>
        </p:txBody>
      </p:sp>
      <p:sp>
        <p:nvSpPr>
          <p:cNvPr id="5" name="Shape 3"/>
          <p:cNvSpPr/>
          <p:nvPr/>
        </p:nvSpPr>
        <p:spPr>
          <a:xfrm>
            <a:off x="457200" y="1417320"/>
            <a:ext cx="8229600" cy="1051560"/>
          </a:xfrm>
          <a:prstGeom prst="rect">
            <a:avLst/>
          </a:prstGeom>
          <a:solidFill>
            <a:srgbClr val="F4F6FA"/>
          </a:solidFill>
          <a:ln w="12700">
            <a:solidFill>
              <a:srgbClr val="D6DEEB"/>
            </a:solidFill>
            <a:prstDash val="solid"/>
          </a:ln>
        </p:spPr>
      </p:sp>
      <p:sp>
        <p:nvSpPr>
          <p:cNvPr id="6" name="Shape 4"/>
          <p:cNvSpPr/>
          <p:nvPr/>
        </p:nvSpPr>
        <p:spPr>
          <a:xfrm>
            <a:off x="457200" y="1417320"/>
            <a:ext cx="73152" cy="1051560"/>
          </a:xfrm>
          <a:prstGeom prst="rect">
            <a:avLst/>
          </a:prstGeom>
          <a:solidFill>
            <a:srgbClr val="D9261C"/>
          </a:solidFill>
          <a:ln/>
        </p:spPr>
      </p:sp>
      <p:pic>
        <p:nvPicPr>
          <p:cNvPr id="7" name="Image 0" descr="preencoded.png">    </p:cNvPr>
          <p:cNvPicPr>
            <a:picLocks noChangeAspect="1"/>
          </p:cNvPicPr>
          <p:nvPr/>
        </p:nvPicPr>
        <p:blipFill>
          <a:blip r:embed="rId1"/>
          <a:stretch>
            <a:fillRect/>
          </a:stretch>
        </p:blipFill>
        <p:spPr>
          <a:xfrm>
            <a:off x="685800" y="1737360"/>
            <a:ext cx="411480" cy="411480"/>
          </a:xfrm>
          <a:prstGeom prst="rect">
            <a:avLst/>
          </a:prstGeom>
        </p:spPr>
      </p:pic>
      <p:sp>
        <p:nvSpPr>
          <p:cNvPr id="8" name="Text 5"/>
          <p:cNvSpPr/>
          <p:nvPr/>
        </p:nvSpPr>
        <p:spPr>
          <a:xfrm>
            <a:off x="1280160" y="1581912"/>
            <a:ext cx="6858000" cy="228600"/>
          </a:xfrm>
          <a:prstGeom prst="rect">
            <a:avLst/>
          </a:prstGeom>
          <a:noFill/>
          <a:ln/>
        </p:spPr>
        <p:txBody>
          <a:bodyPr wrap="square" lIns="0" tIns="0" rIns="0" bIns="0" rtlCol="0" anchor="ctr"/>
          <a:lstStyle/>
          <a:p>
            <a:pPr indent="0" marL="0">
              <a:buNone/>
            </a:pPr>
            <a:r>
              <a:rPr lang="en-US" sz="900" b="1" spc="400" kern="0" dirty="0">
                <a:solidFill>
                  <a:srgbClr val="5B6A82"/>
                </a:solidFill>
                <a:latin typeface="Calibri" pitchFamily="34" charset="0"/>
                <a:ea typeface="Calibri" pitchFamily="34" charset="-122"/>
                <a:cs typeface="Calibri" pitchFamily="34" charset="-120"/>
              </a:rPr>
              <a:t>SESSIONS</a:t>
            </a:r>
            <a:endParaRPr lang="en-US" sz="900" dirty="0"/>
          </a:p>
        </p:txBody>
      </p:sp>
      <p:sp>
        <p:nvSpPr>
          <p:cNvPr id="9" name="Text 6"/>
          <p:cNvSpPr/>
          <p:nvPr/>
        </p:nvSpPr>
        <p:spPr>
          <a:xfrm>
            <a:off x="1280160" y="1783080"/>
            <a:ext cx="7223760" cy="320040"/>
          </a:xfrm>
          <a:prstGeom prst="rect">
            <a:avLst/>
          </a:prstGeom>
          <a:noFill/>
          <a:ln/>
        </p:spPr>
        <p:txBody>
          <a:bodyPr wrap="square" lIns="0" tIns="0" rIns="0" bIns="0" rtlCol="0" anchor="ctr"/>
          <a:lstStyle/>
          <a:p>
            <a:pPr indent="0" marL="0">
              <a:buNone/>
            </a:pPr>
            <a:r>
              <a:rPr lang="en-US" sz="1600" b="1" dirty="0">
                <a:solidFill>
                  <a:srgbClr val="003B70"/>
                </a:solidFill>
                <a:latin typeface="Calibri" pitchFamily="34" charset="0"/>
                <a:ea typeface="Calibri" pitchFamily="34" charset="-122"/>
                <a:cs typeface="Calibri" pitchFamily="34" charset="-120"/>
              </a:rPr>
              <a:t>Grid-kit improvements across repos</a:t>
            </a:r>
            <a:endParaRPr lang="en-US" sz="1600" dirty="0"/>
          </a:p>
        </p:txBody>
      </p:sp>
      <p:sp>
        <p:nvSpPr>
          <p:cNvPr id="10" name="Text 7"/>
          <p:cNvSpPr/>
          <p:nvPr/>
        </p:nvSpPr>
        <p:spPr>
          <a:xfrm>
            <a:off x="1280160" y="2075688"/>
            <a:ext cx="7223760" cy="365760"/>
          </a:xfrm>
          <a:prstGeom prst="rect">
            <a:avLst/>
          </a:prstGeom>
          <a:noFill/>
          <a:ln/>
        </p:spPr>
        <p:txBody>
          <a:bodyPr wrap="square" lIns="0" tIns="0" rIns="0" bIns="0" rtlCol="0" anchor="ctr"/>
          <a:lstStyle/>
          <a:p>
            <a:pPr indent="0" marL="0">
              <a:buNone/>
            </a:pPr>
            <a:r>
              <a:rPr lang="en-US" sz="1100" dirty="0">
                <a:solidFill>
                  <a:srgbClr val="0F1A2C"/>
                </a:solidFill>
                <a:latin typeface="Calibri" pitchFamily="34" charset="0"/>
                <a:ea typeface="Calibri" pitchFamily="34" charset="-122"/>
                <a:cs typeface="Calibri" pitchFamily="34" charset="-120"/>
              </a:rPr>
              <a:t>Rolling out grid-kit feature updates to multiple consumer repos. Devin picks up the work async, opens PRs we review in batches.</a:t>
            </a:r>
            <a:endParaRPr lang="en-US" sz="1100" dirty="0"/>
          </a:p>
        </p:txBody>
      </p:sp>
      <p:sp>
        <p:nvSpPr>
          <p:cNvPr id="11" name="Shape 8"/>
          <p:cNvSpPr/>
          <p:nvPr/>
        </p:nvSpPr>
        <p:spPr>
          <a:xfrm>
            <a:off x="457200" y="2606040"/>
            <a:ext cx="8229600" cy="1051560"/>
          </a:xfrm>
          <a:prstGeom prst="rect">
            <a:avLst/>
          </a:prstGeom>
          <a:solidFill>
            <a:srgbClr val="F4F6FA"/>
          </a:solidFill>
          <a:ln w="12700">
            <a:solidFill>
              <a:srgbClr val="D6DEEB"/>
            </a:solidFill>
            <a:prstDash val="solid"/>
          </a:ln>
        </p:spPr>
      </p:sp>
      <p:sp>
        <p:nvSpPr>
          <p:cNvPr id="12" name="Shape 9"/>
          <p:cNvSpPr/>
          <p:nvPr/>
        </p:nvSpPr>
        <p:spPr>
          <a:xfrm>
            <a:off x="457200" y="2606040"/>
            <a:ext cx="73152" cy="1051560"/>
          </a:xfrm>
          <a:prstGeom prst="rect">
            <a:avLst/>
          </a:prstGeom>
          <a:solidFill>
            <a:srgbClr val="D9261C"/>
          </a:solidFill>
          <a:ln/>
        </p:spPr>
      </p:sp>
      <p:pic>
        <p:nvPicPr>
          <p:cNvPr id="13" name="Image 1" descr="preencoded.png">    </p:cNvPr>
          <p:cNvPicPr>
            <a:picLocks noChangeAspect="1"/>
          </p:cNvPicPr>
          <p:nvPr/>
        </p:nvPicPr>
        <p:blipFill>
          <a:blip r:embed="rId2"/>
          <a:stretch>
            <a:fillRect/>
          </a:stretch>
        </p:blipFill>
        <p:spPr>
          <a:xfrm>
            <a:off x="685800" y="2926080"/>
            <a:ext cx="411480" cy="411480"/>
          </a:xfrm>
          <a:prstGeom prst="rect">
            <a:avLst/>
          </a:prstGeom>
        </p:spPr>
      </p:pic>
      <p:sp>
        <p:nvSpPr>
          <p:cNvPr id="14" name="Text 10"/>
          <p:cNvSpPr/>
          <p:nvPr/>
        </p:nvSpPr>
        <p:spPr>
          <a:xfrm>
            <a:off x="1280160" y="2770632"/>
            <a:ext cx="6858000" cy="228600"/>
          </a:xfrm>
          <a:prstGeom prst="rect">
            <a:avLst/>
          </a:prstGeom>
          <a:noFill/>
          <a:ln/>
        </p:spPr>
        <p:txBody>
          <a:bodyPr wrap="square" lIns="0" tIns="0" rIns="0" bIns="0" rtlCol="0" anchor="ctr"/>
          <a:lstStyle/>
          <a:p>
            <a:pPr indent="0" marL="0">
              <a:buNone/>
            </a:pPr>
            <a:r>
              <a:rPr lang="en-US" sz="900" b="1" spc="400" kern="0" dirty="0">
                <a:solidFill>
                  <a:srgbClr val="5B6A82"/>
                </a:solidFill>
                <a:latin typeface="Calibri" pitchFamily="34" charset="0"/>
                <a:ea typeface="Calibri" pitchFamily="34" charset="-122"/>
                <a:cs typeface="Calibri" pitchFamily="34" charset="-120"/>
              </a:rPr>
              <a:t>DEEPWIKI + SESSIONS</a:t>
            </a:r>
            <a:endParaRPr lang="en-US" sz="900" dirty="0"/>
          </a:p>
        </p:txBody>
      </p:sp>
      <p:sp>
        <p:nvSpPr>
          <p:cNvPr id="15" name="Text 11"/>
          <p:cNvSpPr/>
          <p:nvPr/>
        </p:nvSpPr>
        <p:spPr>
          <a:xfrm>
            <a:off x="1280160" y="2971800"/>
            <a:ext cx="7223760" cy="320040"/>
          </a:xfrm>
          <a:prstGeom prst="rect">
            <a:avLst/>
          </a:prstGeom>
          <a:noFill/>
          <a:ln/>
        </p:spPr>
        <p:txBody>
          <a:bodyPr wrap="square" lIns="0" tIns="0" rIns="0" bIns="0" rtlCol="0" anchor="ctr"/>
          <a:lstStyle/>
          <a:p>
            <a:pPr indent="0" marL="0">
              <a:buNone/>
            </a:pPr>
            <a:r>
              <a:rPr lang="en-US" sz="1600" b="1" dirty="0">
                <a:solidFill>
                  <a:srgbClr val="003B70"/>
                </a:solidFill>
                <a:latin typeface="Calibri" pitchFamily="34" charset="0"/>
                <a:ea typeface="Calibri" pitchFamily="34" charset="-122"/>
                <a:cs typeface="Calibri" pitchFamily="34" charset="-120"/>
              </a:rPr>
              <a:t>Cross-repo research and porting</a:t>
            </a:r>
            <a:endParaRPr lang="en-US" sz="1600" dirty="0"/>
          </a:p>
        </p:txBody>
      </p:sp>
      <p:sp>
        <p:nvSpPr>
          <p:cNvPr id="16" name="Text 12"/>
          <p:cNvSpPr/>
          <p:nvPr/>
        </p:nvSpPr>
        <p:spPr>
          <a:xfrm>
            <a:off x="1280160" y="3264408"/>
            <a:ext cx="7223760" cy="365760"/>
          </a:xfrm>
          <a:prstGeom prst="rect">
            <a:avLst/>
          </a:prstGeom>
          <a:noFill/>
          <a:ln/>
        </p:spPr>
        <p:txBody>
          <a:bodyPr wrap="square" lIns="0" tIns="0" rIns="0" bIns="0" rtlCol="0" anchor="ctr"/>
          <a:lstStyle/>
          <a:p>
            <a:pPr indent="0" marL="0">
              <a:buNone/>
            </a:pPr>
            <a:r>
              <a:rPr lang="en-US" sz="1100" dirty="0">
                <a:solidFill>
                  <a:srgbClr val="0F1A2C"/>
                </a:solidFill>
                <a:latin typeface="Calibri" pitchFamily="34" charset="0"/>
                <a:ea typeface="Calibri" pitchFamily="34" charset="-122"/>
                <a:cs typeface="Calibri" pitchFamily="34" charset="-120"/>
              </a:rPr>
              <a:t>Implementing base-href replacement across repos. Bringing grid-kit features and services from one repo into another. Research what's there, then port it.</a:t>
            </a:r>
            <a:endParaRPr lang="en-US" sz="1100" dirty="0"/>
          </a:p>
        </p:txBody>
      </p:sp>
      <p:sp>
        <p:nvSpPr>
          <p:cNvPr id="17" name="Shape 13"/>
          <p:cNvSpPr/>
          <p:nvPr/>
        </p:nvSpPr>
        <p:spPr>
          <a:xfrm>
            <a:off x="457200" y="3794760"/>
            <a:ext cx="8229600" cy="1051560"/>
          </a:xfrm>
          <a:prstGeom prst="rect">
            <a:avLst/>
          </a:prstGeom>
          <a:solidFill>
            <a:srgbClr val="F4F6FA"/>
          </a:solidFill>
          <a:ln w="12700">
            <a:solidFill>
              <a:srgbClr val="D6DEEB"/>
            </a:solidFill>
            <a:prstDash val="solid"/>
          </a:ln>
        </p:spPr>
      </p:sp>
      <p:sp>
        <p:nvSpPr>
          <p:cNvPr id="18" name="Shape 14"/>
          <p:cNvSpPr/>
          <p:nvPr/>
        </p:nvSpPr>
        <p:spPr>
          <a:xfrm>
            <a:off x="457200" y="3794760"/>
            <a:ext cx="73152" cy="1051560"/>
          </a:xfrm>
          <a:prstGeom prst="rect">
            <a:avLst/>
          </a:prstGeom>
          <a:solidFill>
            <a:srgbClr val="5B6A82"/>
          </a:solidFill>
          <a:ln/>
        </p:spPr>
      </p:sp>
      <p:pic>
        <p:nvPicPr>
          <p:cNvPr id="19" name="Image 2" descr="preencoded.png">    </p:cNvPr>
          <p:cNvPicPr>
            <a:picLocks noChangeAspect="1"/>
          </p:cNvPicPr>
          <p:nvPr/>
        </p:nvPicPr>
        <p:blipFill>
          <a:blip r:embed="rId3"/>
          <a:stretch>
            <a:fillRect/>
          </a:stretch>
        </p:blipFill>
        <p:spPr>
          <a:xfrm>
            <a:off x="685800" y="4114800"/>
            <a:ext cx="411480" cy="411480"/>
          </a:xfrm>
          <a:prstGeom prst="rect">
            <a:avLst/>
          </a:prstGeom>
        </p:spPr>
      </p:pic>
      <p:sp>
        <p:nvSpPr>
          <p:cNvPr id="20" name="Text 15"/>
          <p:cNvSpPr/>
          <p:nvPr/>
        </p:nvSpPr>
        <p:spPr>
          <a:xfrm>
            <a:off x="1280160" y="3959352"/>
            <a:ext cx="6858000" cy="228600"/>
          </a:xfrm>
          <a:prstGeom prst="rect">
            <a:avLst/>
          </a:prstGeom>
          <a:noFill/>
          <a:ln/>
        </p:spPr>
        <p:txBody>
          <a:bodyPr wrap="square" lIns="0" tIns="0" rIns="0" bIns="0" rtlCol="0" anchor="ctr"/>
          <a:lstStyle/>
          <a:p>
            <a:pPr indent="0" marL="0">
              <a:buNone/>
            </a:pPr>
            <a:r>
              <a:rPr lang="en-US" sz="900" b="1" spc="400" kern="0" dirty="0">
                <a:solidFill>
                  <a:srgbClr val="5B6A82"/>
                </a:solidFill>
                <a:latin typeface="Calibri" pitchFamily="34" charset="0"/>
                <a:ea typeface="Calibri" pitchFamily="34" charset="-122"/>
                <a:cs typeface="Calibri" pitchFamily="34" charset="-120"/>
              </a:rPr>
              <a:t>ASK DEVIN</a:t>
            </a:r>
            <a:endParaRPr lang="en-US" sz="900" dirty="0"/>
          </a:p>
        </p:txBody>
      </p:sp>
      <p:sp>
        <p:nvSpPr>
          <p:cNvPr id="21" name="Text 16"/>
          <p:cNvSpPr/>
          <p:nvPr/>
        </p:nvSpPr>
        <p:spPr>
          <a:xfrm>
            <a:off x="1280160" y="4160520"/>
            <a:ext cx="7223760" cy="320040"/>
          </a:xfrm>
          <a:prstGeom prst="rect">
            <a:avLst/>
          </a:prstGeom>
          <a:noFill/>
          <a:ln/>
        </p:spPr>
        <p:txBody>
          <a:bodyPr wrap="square" lIns="0" tIns="0" rIns="0" bIns="0" rtlCol="0" anchor="ctr"/>
          <a:lstStyle/>
          <a:p>
            <a:pPr indent="0" marL="0">
              <a:buNone/>
            </a:pPr>
            <a:r>
              <a:rPr lang="en-US" sz="1600" b="1" dirty="0">
                <a:solidFill>
                  <a:srgbClr val="003B70"/>
                </a:solidFill>
                <a:latin typeface="Calibri" pitchFamily="34" charset="0"/>
                <a:ea typeface="Calibri" pitchFamily="34" charset="-122"/>
                <a:cs typeface="Calibri" pitchFamily="34" charset="-120"/>
              </a:rPr>
              <a:t>[ TBD — quick win story ]</a:t>
            </a:r>
            <a:endParaRPr lang="en-US" sz="1600" dirty="0"/>
          </a:p>
        </p:txBody>
      </p:sp>
      <p:sp>
        <p:nvSpPr>
          <p:cNvPr id="22" name="Text 17"/>
          <p:cNvSpPr/>
          <p:nvPr/>
        </p:nvSpPr>
        <p:spPr>
          <a:xfrm>
            <a:off x="1280160" y="4453128"/>
            <a:ext cx="7223760" cy="365760"/>
          </a:xfrm>
          <a:prstGeom prst="rect">
            <a:avLst/>
          </a:prstGeom>
          <a:noFill/>
          <a:ln/>
        </p:spPr>
        <p:txBody>
          <a:bodyPr wrap="square" lIns="0" tIns="0" rIns="0" bIns="0" rtlCol="0" anchor="ctr"/>
          <a:lstStyle/>
          <a:p>
            <a:pPr indent="0" marL="0">
              <a:buNone/>
            </a:pPr>
            <a:r>
              <a:rPr lang="en-US" sz="1100" i="1" dirty="0">
                <a:solidFill>
                  <a:srgbClr val="0F1A2C"/>
                </a:solidFill>
                <a:latin typeface="Calibri" pitchFamily="34" charset="0"/>
                <a:ea typeface="Calibri" pitchFamily="34" charset="-122"/>
                <a:cs typeface="Calibri" pitchFamily="34" charset="-120"/>
              </a:rPr>
              <a:t>Placeholder: a moment where Ask Devin saved someone significant time on a contextual question. Fill in before the talk.</a:t>
            </a:r>
            <a:endParaRPr lang="en-US" sz="1100" dirty="0"/>
          </a:p>
        </p:txBody>
      </p:sp>
      <p:sp>
        <p:nvSpPr>
          <p:cNvPr id="23" name="Text 18"/>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7 / 19</a:t>
            </a:r>
            <a:endParaRPr lang="en-US" sz="900" dirty="0"/>
          </a:p>
        </p:txBody>
      </p:sp>
      <p:sp>
        <p:nvSpPr>
          <p:cNvPr id="24" name="Text 19"/>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B7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261C"/>
          </a:solidFill>
          <a:ln/>
        </p:spPr>
      </p:sp>
      <p:sp>
        <p:nvSpPr>
          <p:cNvPr id="3" name="Text 1"/>
          <p:cNvSpPr/>
          <p:nvPr/>
        </p:nvSpPr>
        <p:spPr>
          <a:xfrm>
            <a:off x="640080" y="640080"/>
            <a:ext cx="7772400" cy="274320"/>
          </a:xfrm>
          <a:prstGeom prst="rect">
            <a:avLst/>
          </a:prstGeom>
          <a:noFill/>
          <a:ln/>
        </p:spPr>
        <p:txBody>
          <a:bodyPr wrap="square" lIns="0" tIns="0" rIns="0" bIns="0" rtlCol="0" anchor="ctr"/>
          <a:lstStyle/>
          <a:p>
            <a:pPr indent="0" marL="0">
              <a:buNone/>
            </a:pPr>
            <a:r>
              <a:rPr lang="en-US" sz="1200" b="1" spc="600" kern="0" dirty="0">
                <a:solidFill>
                  <a:srgbClr val="9FB6D3"/>
                </a:solidFill>
                <a:latin typeface="Calibri" pitchFamily="34" charset="0"/>
                <a:ea typeface="Calibri" pitchFamily="34" charset="-122"/>
                <a:cs typeface="Calibri" pitchFamily="34" charset="-120"/>
              </a:rPr>
              <a:t>THE BRIDGE</a:t>
            </a:r>
            <a:endParaRPr lang="en-US" sz="1200" dirty="0"/>
          </a:p>
        </p:txBody>
      </p:sp>
      <p:sp>
        <p:nvSpPr>
          <p:cNvPr id="4" name="Text 2"/>
          <p:cNvSpPr/>
          <p:nvPr/>
        </p:nvSpPr>
        <p:spPr>
          <a:xfrm>
            <a:off x="640080" y="1005840"/>
            <a:ext cx="7772400" cy="73152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So how do we make this consistent?</a:t>
            </a:r>
            <a:endParaRPr lang="en-US" sz="3600" dirty="0"/>
          </a:p>
        </p:txBody>
      </p:sp>
      <p:sp>
        <p:nvSpPr>
          <p:cNvPr id="5" name="Text 3"/>
          <p:cNvSpPr/>
          <p:nvPr/>
        </p:nvSpPr>
        <p:spPr>
          <a:xfrm>
            <a:off x="640080" y="2103120"/>
            <a:ext cx="7772400" cy="64008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Devin and Copilot are powerful. But on their own, they reach for whatever context they can find — and that context isn't shared across our team.</a:t>
            </a:r>
            <a:endParaRPr lang="en-US" sz="1600" dirty="0"/>
          </a:p>
        </p:txBody>
      </p:sp>
      <p:sp>
        <p:nvSpPr>
          <p:cNvPr id="6" name="Shape 4"/>
          <p:cNvSpPr/>
          <p:nvPr/>
        </p:nvSpPr>
        <p:spPr>
          <a:xfrm>
            <a:off x="640080" y="2971800"/>
            <a:ext cx="73152" cy="274320"/>
          </a:xfrm>
          <a:prstGeom prst="rect">
            <a:avLst/>
          </a:prstGeom>
          <a:solidFill>
            <a:srgbClr val="D9261C"/>
          </a:solidFill>
          <a:ln/>
        </p:spPr>
      </p:sp>
      <p:sp>
        <p:nvSpPr>
          <p:cNvPr id="7" name="Text 5"/>
          <p:cNvSpPr/>
          <p:nvPr/>
        </p:nvSpPr>
        <p:spPr>
          <a:xfrm>
            <a:off x="868680" y="2926080"/>
            <a:ext cx="75895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Something both tools could read</a:t>
            </a:r>
            <a:endParaRPr lang="en-US" sz="1800" dirty="0"/>
          </a:p>
        </p:txBody>
      </p:sp>
      <p:sp>
        <p:nvSpPr>
          <p:cNvPr id="8" name="Shape 6"/>
          <p:cNvSpPr/>
          <p:nvPr/>
        </p:nvSpPr>
        <p:spPr>
          <a:xfrm>
            <a:off x="640080" y="3474720"/>
            <a:ext cx="73152" cy="274320"/>
          </a:xfrm>
          <a:prstGeom prst="rect">
            <a:avLst/>
          </a:prstGeom>
          <a:solidFill>
            <a:srgbClr val="D9261C"/>
          </a:solidFill>
          <a:ln/>
        </p:spPr>
      </p:sp>
      <p:sp>
        <p:nvSpPr>
          <p:cNvPr id="9" name="Text 7"/>
          <p:cNvSpPr/>
          <p:nvPr/>
        </p:nvSpPr>
        <p:spPr>
          <a:xfrm>
            <a:off x="868680" y="3429000"/>
            <a:ext cx="75895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Something every developer would inherit automatically</a:t>
            </a:r>
            <a:endParaRPr lang="en-US" sz="1800" dirty="0"/>
          </a:p>
        </p:txBody>
      </p:sp>
      <p:sp>
        <p:nvSpPr>
          <p:cNvPr id="10" name="Shape 8"/>
          <p:cNvSpPr/>
          <p:nvPr/>
        </p:nvSpPr>
        <p:spPr>
          <a:xfrm>
            <a:off x="640080" y="3977640"/>
            <a:ext cx="73152" cy="274320"/>
          </a:xfrm>
          <a:prstGeom prst="rect">
            <a:avLst/>
          </a:prstGeom>
          <a:solidFill>
            <a:srgbClr val="D9261C"/>
          </a:solidFill>
          <a:ln/>
        </p:spPr>
      </p:sp>
      <p:sp>
        <p:nvSpPr>
          <p:cNvPr id="11" name="Text 9"/>
          <p:cNvSpPr/>
          <p:nvPr/>
        </p:nvSpPr>
        <p:spPr>
          <a:xfrm>
            <a:off x="868680" y="3931920"/>
            <a:ext cx="75895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Something that lived in the repo, not in someone's head</a:t>
            </a:r>
            <a:endParaRPr lang="en-US" sz="1800" dirty="0"/>
          </a:p>
        </p:txBody>
      </p:sp>
      <p:sp>
        <p:nvSpPr>
          <p:cNvPr id="12" name="Text 10"/>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9FB6D3"/>
                </a:solidFill>
                <a:latin typeface="Calibri" pitchFamily="34" charset="0"/>
                <a:ea typeface="Calibri" pitchFamily="34" charset="-122"/>
                <a:cs typeface="Calibri" pitchFamily="34" charset="-120"/>
              </a:rPr>
              <a:t>8 / 19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WHAT WE BUILT</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The kit, at a glance</a:t>
            </a:r>
            <a:endParaRPr lang="en-US" sz="2600" dirty="0"/>
          </a:p>
        </p:txBody>
      </p:sp>
      <p:sp>
        <p:nvSpPr>
          <p:cNvPr id="5" name="Shape 3"/>
          <p:cNvSpPr/>
          <p:nvPr/>
        </p:nvSpPr>
        <p:spPr>
          <a:xfrm>
            <a:off x="457200" y="1417320"/>
            <a:ext cx="4114800" cy="3200400"/>
          </a:xfrm>
          <a:prstGeom prst="rect">
            <a:avLst/>
          </a:prstGeom>
          <a:solidFill>
            <a:srgbClr val="0F1A2C"/>
          </a:solidFill>
          <a:ln/>
        </p:spPr>
      </p:sp>
      <p:sp>
        <p:nvSpPr>
          <p:cNvPr id="6" name="Text 4"/>
          <p:cNvSpPr/>
          <p:nvPr/>
        </p:nvSpPr>
        <p:spPr>
          <a:xfrm>
            <a:off x="685800" y="1600200"/>
            <a:ext cx="3840480" cy="2834640"/>
          </a:xfrm>
          <a:prstGeom prst="rect">
            <a:avLst/>
          </a:prstGeom>
          <a:noFill/>
          <a:ln/>
        </p:spPr>
        <p:txBody>
          <a:bodyPr wrap="square" rtlCol="0" anchor="ctr"/>
          <a:lstStyle/>
          <a:p>
            <a:pPr indent="0" marL="0">
              <a:spcAft>
                <a:spcPts val="200"/>
              </a:spcAft>
              <a:buNone/>
            </a:pPr>
            <a:r>
              <a:rPr lang="en-US" sz="1300" b="1" dirty="0">
                <a:solidFill>
                  <a:srgbClr val="FFFFFF"/>
                </a:solidFill>
                <a:latin typeface="Consolas" pitchFamily="34" charset="0"/>
                <a:ea typeface="Consolas" pitchFamily="34" charset="-122"/>
                <a:cs typeface="Consolas" pitchFamily="34" charset="-120"/>
              </a:rPr>
              <a:t>spec-agent/</a:t>
            </a:r>
            <a:endParaRPr lang="en-US" sz="1300" dirty="0"/>
          </a:p>
          <a:p>
            <a:pPr indent="0" marL="0">
              <a:spcAft>
                <a:spcPts val="200"/>
              </a:spcAft>
              <a:buNone/>
            </a:pPr>
            <a:r>
              <a:rPr lang="en-US" sz="1300" b="1" dirty="0">
                <a:solidFill>
                  <a:srgbClr val="FBE5E3"/>
                </a:solidFill>
                <a:latin typeface="Consolas" pitchFamily="34" charset="0"/>
                <a:ea typeface="Consolas" pitchFamily="34" charset="-122"/>
                <a:cs typeface="Consolas" pitchFamily="34" charset="-120"/>
              </a:rPr>
              <a:t>├── AGENTS.md</a:t>
            </a:r>
            <a:endParaRPr lang="en-US" sz="1300" dirty="0"/>
          </a:p>
          <a:p>
            <a:pPr indent="0" marL="0">
              <a:spcAft>
                <a:spcPts val="200"/>
              </a:spcAft>
              <a:buNone/>
            </a:pPr>
            <a:r>
              <a:rPr lang="en-US" sz="1300" dirty="0">
                <a:solidFill>
                  <a:srgbClr val="FFFFFF"/>
                </a:solidFill>
                <a:latin typeface="Consolas" pitchFamily="34" charset="0"/>
                <a:ea typeface="Consolas" pitchFamily="34" charset="-122"/>
                <a:cs typeface="Consolas" pitchFamily="34" charset="-120"/>
              </a:rPr>
              <a:t>├── agents/</a:t>
            </a:r>
            <a:endParaRPr lang="en-US" sz="1300" dirty="0"/>
          </a:p>
          <a:p>
            <a:pPr indent="0" marL="0">
              <a:spcAft>
                <a:spcPts val="200"/>
              </a:spcAft>
              <a:buNone/>
            </a:pPr>
            <a:r>
              <a:rPr lang="en-US" sz="1300" dirty="0">
                <a:solidFill>
                  <a:srgbClr val="FFFFFF"/>
                </a:solidFill>
                <a:latin typeface="Consolas" pitchFamily="34" charset="0"/>
                <a:ea typeface="Consolas" pitchFamily="34" charset="-122"/>
                <a:cs typeface="Consolas" pitchFamily="34" charset="-120"/>
              </a:rPr>
              <a:t>├── skills/</a:t>
            </a:r>
            <a:endParaRPr lang="en-US" sz="1300" dirty="0"/>
          </a:p>
          <a:p>
            <a:pPr indent="0" marL="0">
              <a:spcAft>
                <a:spcPts val="200"/>
              </a:spcAft>
              <a:buNone/>
            </a:pPr>
            <a:r>
              <a:rPr lang="en-US" sz="1300" dirty="0">
                <a:solidFill>
                  <a:srgbClr val="FFFFFF"/>
                </a:solidFill>
                <a:latin typeface="Consolas" pitchFamily="34" charset="0"/>
                <a:ea typeface="Consolas" pitchFamily="34" charset="-122"/>
                <a:cs typeface="Consolas" pitchFamily="34" charset="-120"/>
              </a:rPr>
              <a:t>├── standards/</a:t>
            </a:r>
            <a:endParaRPr lang="en-US" sz="1300" dirty="0"/>
          </a:p>
          <a:p>
            <a:pPr indent="0" marL="0">
              <a:spcAft>
                <a:spcPts val="200"/>
              </a:spcAft>
              <a:buNone/>
            </a:pPr>
            <a:r>
              <a:rPr lang="en-US" sz="1300" dirty="0">
                <a:solidFill>
                  <a:srgbClr val="FFFFFF"/>
                </a:solidFill>
                <a:latin typeface="Consolas" pitchFamily="34" charset="0"/>
                <a:ea typeface="Consolas" pitchFamily="34" charset="-122"/>
                <a:cs typeface="Consolas" pitchFamily="34" charset="-120"/>
              </a:rPr>
              <a:t>├── specs/</a:t>
            </a:r>
            <a:endParaRPr lang="en-US" sz="1300" dirty="0"/>
          </a:p>
          <a:p>
            <a:pPr indent="0" marL="0">
              <a:spcAft>
                <a:spcPts val="200"/>
              </a:spcAft>
              <a:buNone/>
            </a:pPr>
            <a:r>
              <a:rPr lang="en-US" sz="1300" dirty="0">
                <a:solidFill>
                  <a:srgbClr val="FFFFFF"/>
                </a:solidFill>
                <a:latin typeface="Consolas" pitchFamily="34" charset="0"/>
                <a:ea typeface="Consolas" pitchFamily="34" charset="-122"/>
                <a:cs typeface="Consolas" pitchFamily="34" charset="-120"/>
              </a:rPr>
              <a:t>├── docs/</a:t>
            </a:r>
            <a:endParaRPr lang="en-US" sz="1300" dirty="0"/>
          </a:p>
          <a:p>
            <a:pPr indent="0" marL="0">
              <a:spcAft>
                <a:spcPts val="200"/>
              </a:spcAft>
              <a:buNone/>
            </a:pPr>
            <a:r>
              <a:rPr lang="en-US" sz="1300" dirty="0">
                <a:solidFill>
                  <a:srgbClr val="FFFFFF"/>
                </a:solidFill>
                <a:latin typeface="Consolas" pitchFamily="34" charset="0"/>
                <a:ea typeface="Consolas" pitchFamily="34" charset="-122"/>
                <a:cs typeface="Consolas" pitchFamily="34" charset="-120"/>
              </a:rPr>
              <a:t>└── spec-agent-kit/</a:t>
            </a:r>
            <a:endParaRPr lang="en-US" sz="1300" dirty="0"/>
          </a:p>
          <a:p>
            <a:pPr indent="0" marL="0">
              <a:spcAft>
                <a:spcPts val="200"/>
              </a:spcAft>
              <a:buNone/>
            </a:pPr>
            <a:r>
              <a:rPr lang="en-US" sz="1300" dirty="0">
                <a:solidFill>
                  <a:srgbClr val="9FB6D3"/>
                </a:solidFill>
                <a:latin typeface="Consolas" pitchFamily="34" charset="0"/>
                <a:ea typeface="Consolas" pitchFamily="34" charset="-122"/>
                <a:cs typeface="Consolas" pitchFamily="34" charset="-120"/>
              </a:rPr>
              <a:t>    ├── grid-kit/</a:t>
            </a:r>
            <a:endParaRPr lang="en-US" sz="1300" dirty="0"/>
          </a:p>
          <a:p>
            <a:pPr indent="0" marL="0">
              <a:spcAft>
                <a:spcPts val="200"/>
              </a:spcAft>
              <a:buNone/>
            </a:pPr>
            <a:r>
              <a:rPr lang="en-US" sz="1300" dirty="0">
                <a:solidFill>
                  <a:srgbClr val="9FB6D3"/>
                </a:solidFill>
                <a:latin typeface="Consolas" pitchFamily="34" charset="0"/>
                <a:ea typeface="Consolas" pitchFamily="34" charset="-122"/>
                <a:cs typeface="Consolas" pitchFamily="34" charset="-120"/>
              </a:rPr>
              <a:t>    ├── ui-config/</a:t>
            </a:r>
            <a:endParaRPr lang="en-US" sz="1300" dirty="0"/>
          </a:p>
          <a:p>
            <a:pPr indent="0" marL="0">
              <a:spcAft>
                <a:spcPts val="200"/>
              </a:spcAft>
              <a:buNone/>
            </a:pPr>
            <a:r>
              <a:rPr lang="en-US" sz="1300" dirty="0">
                <a:solidFill>
                  <a:srgbClr val="9FB6D3"/>
                </a:solidFill>
                <a:latin typeface="Consolas" pitchFamily="34" charset="0"/>
                <a:ea typeface="Consolas" pitchFamily="34" charset="-122"/>
                <a:cs typeface="Consolas" pitchFamily="34" charset="-120"/>
              </a:rPr>
              <a:t>    ├── demo-site/</a:t>
            </a:r>
            <a:endParaRPr lang="en-US" sz="1300" dirty="0"/>
          </a:p>
          <a:p>
            <a:pPr indent="0" marL="0">
              <a:spcAft>
                <a:spcPts val="200"/>
              </a:spcAft>
              <a:buNone/>
            </a:pPr>
            <a:r>
              <a:rPr lang="en-US" sz="1300" dirty="0">
                <a:solidFill>
                  <a:srgbClr val="9FB6D3"/>
                </a:solidFill>
                <a:latin typeface="Consolas" pitchFamily="34" charset="0"/>
                <a:ea typeface="Consolas" pitchFamily="34" charset="-122"/>
                <a:cs typeface="Consolas" pitchFamily="34" charset="-120"/>
              </a:rPr>
              <a:t>    └── scripts/</a:t>
            </a:r>
            <a:endParaRPr lang="en-US" sz="1300" dirty="0"/>
          </a:p>
        </p:txBody>
      </p:sp>
      <p:sp>
        <p:nvSpPr>
          <p:cNvPr id="7" name="Text 5"/>
          <p:cNvSpPr/>
          <p:nvPr/>
        </p:nvSpPr>
        <p:spPr>
          <a:xfrm>
            <a:off x="4754880" y="1463040"/>
            <a:ext cx="4023360" cy="502920"/>
          </a:xfrm>
          <a:prstGeom prst="rect">
            <a:avLst/>
          </a:prstGeom>
          <a:noFill/>
          <a:ln/>
        </p:spPr>
        <p:txBody>
          <a:bodyPr wrap="square" lIns="0" tIns="0" rIns="0" bIns="0" rtlCol="0" anchor="ctr"/>
          <a:lstStyle/>
          <a:p>
            <a:pPr indent="0" marL="0">
              <a:buNone/>
            </a:pPr>
            <a:r>
              <a:rPr lang="en-US" sz="1200" b="1" dirty="0">
                <a:solidFill>
                  <a:srgbClr val="003B70"/>
                </a:solidFill>
                <a:latin typeface="Consolas" pitchFamily="34" charset="0"/>
                <a:ea typeface="Consolas" pitchFamily="34" charset="-122"/>
                <a:cs typeface="Consolas" pitchFamily="34" charset="-120"/>
              </a:rPr>
              <a:t>AGENTS.md</a:t>
            </a:r>
            <a:pPr indent="0" marL="0">
              <a:buNone/>
            </a:pPr>
            <a:r>
              <a:rPr lang="en-US" sz="1200" dirty="0">
                <a:solidFill>
                  <a:srgbClr val="0F1A2C"/>
                </a:solidFill>
                <a:latin typeface="Calibri" pitchFamily="34" charset="0"/>
                <a:ea typeface="Calibri" pitchFamily="34" charset="-122"/>
                <a:cs typeface="Calibri" pitchFamily="34" charset="-120"/>
              </a:rPr>
              <a:t>  entry point every agent reads first</a:t>
            </a:r>
            <a:endParaRPr lang="en-US" sz="1200" dirty="0"/>
          </a:p>
        </p:txBody>
      </p:sp>
      <p:sp>
        <p:nvSpPr>
          <p:cNvPr id="8" name="Text 6"/>
          <p:cNvSpPr/>
          <p:nvPr/>
        </p:nvSpPr>
        <p:spPr>
          <a:xfrm>
            <a:off x="4754880" y="1965960"/>
            <a:ext cx="4023360" cy="502920"/>
          </a:xfrm>
          <a:prstGeom prst="rect">
            <a:avLst/>
          </a:prstGeom>
          <a:noFill/>
          <a:ln/>
        </p:spPr>
        <p:txBody>
          <a:bodyPr wrap="square" lIns="0" tIns="0" rIns="0" bIns="0" rtlCol="0" anchor="ctr"/>
          <a:lstStyle/>
          <a:p>
            <a:pPr indent="0" marL="0">
              <a:buNone/>
            </a:pPr>
            <a:r>
              <a:rPr lang="en-US" sz="1200" b="1" dirty="0">
                <a:solidFill>
                  <a:srgbClr val="003B70"/>
                </a:solidFill>
                <a:latin typeface="Consolas" pitchFamily="34" charset="0"/>
                <a:ea typeface="Consolas" pitchFamily="34" charset="-122"/>
                <a:cs typeface="Consolas" pitchFamily="34" charset="-120"/>
              </a:rPr>
              <a:t>agents/</a:t>
            </a:r>
            <a:pPr indent="0" marL="0">
              <a:buNone/>
            </a:pPr>
            <a:r>
              <a:rPr lang="en-US" sz="1200" dirty="0">
                <a:solidFill>
                  <a:srgbClr val="0F1A2C"/>
                </a:solidFill>
                <a:latin typeface="Calibri" pitchFamily="34" charset="0"/>
                <a:ea typeface="Calibri" pitchFamily="34" charset="-122"/>
                <a:cs typeface="Calibri" pitchFamily="34" charset="-120"/>
              </a:rPr>
              <a:t>  personas — architect, frontend, backend, QA</a:t>
            </a:r>
            <a:endParaRPr lang="en-US" sz="1200" dirty="0"/>
          </a:p>
        </p:txBody>
      </p:sp>
      <p:sp>
        <p:nvSpPr>
          <p:cNvPr id="9" name="Text 7"/>
          <p:cNvSpPr/>
          <p:nvPr/>
        </p:nvSpPr>
        <p:spPr>
          <a:xfrm>
            <a:off x="4754880" y="2468880"/>
            <a:ext cx="4023360" cy="502920"/>
          </a:xfrm>
          <a:prstGeom prst="rect">
            <a:avLst/>
          </a:prstGeom>
          <a:noFill/>
          <a:ln/>
        </p:spPr>
        <p:txBody>
          <a:bodyPr wrap="square" lIns="0" tIns="0" rIns="0" bIns="0" rtlCol="0" anchor="ctr"/>
          <a:lstStyle/>
          <a:p>
            <a:pPr indent="0" marL="0">
              <a:buNone/>
            </a:pPr>
            <a:r>
              <a:rPr lang="en-US" sz="1200" b="1" dirty="0">
                <a:solidFill>
                  <a:srgbClr val="003B70"/>
                </a:solidFill>
                <a:latin typeface="Consolas" pitchFamily="34" charset="0"/>
                <a:ea typeface="Consolas" pitchFamily="34" charset="-122"/>
                <a:cs typeface="Consolas" pitchFamily="34" charset="-120"/>
              </a:rPr>
              <a:t>skills/</a:t>
            </a:r>
            <a:pPr indent="0" marL="0">
              <a:buNone/>
            </a:pPr>
            <a:r>
              <a:rPr lang="en-US" sz="1200" dirty="0">
                <a:solidFill>
                  <a:srgbClr val="0F1A2C"/>
                </a:solidFill>
                <a:latin typeface="Calibri" pitchFamily="34" charset="0"/>
                <a:ea typeface="Calibri" pitchFamily="34" charset="-122"/>
                <a:cs typeface="Calibri" pitchFamily="34" charset="-120"/>
              </a:rPr>
              <a:t>  packaged, callable workflows</a:t>
            </a:r>
            <a:endParaRPr lang="en-US" sz="1200" dirty="0"/>
          </a:p>
        </p:txBody>
      </p:sp>
      <p:sp>
        <p:nvSpPr>
          <p:cNvPr id="10" name="Text 8"/>
          <p:cNvSpPr/>
          <p:nvPr/>
        </p:nvSpPr>
        <p:spPr>
          <a:xfrm>
            <a:off x="4754880" y="2971800"/>
            <a:ext cx="4023360" cy="502920"/>
          </a:xfrm>
          <a:prstGeom prst="rect">
            <a:avLst/>
          </a:prstGeom>
          <a:noFill/>
          <a:ln/>
        </p:spPr>
        <p:txBody>
          <a:bodyPr wrap="square" lIns="0" tIns="0" rIns="0" bIns="0" rtlCol="0" anchor="ctr"/>
          <a:lstStyle/>
          <a:p>
            <a:pPr indent="0" marL="0">
              <a:buNone/>
            </a:pPr>
            <a:r>
              <a:rPr lang="en-US" sz="1200" b="1" dirty="0">
                <a:solidFill>
                  <a:srgbClr val="003B70"/>
                </a:solidFill>
                <a:latin typeface="Consolas" pitchFamily="34" charset="0"/>
                <a:ea typeface="Consolas" pitchFamily="34" charset="-122"/>
                <a:cs typeface="Consolas" pitchFamily="34" charset="-120"/>
              </a:rPr>
              <a:t>standards/</a:t>
            </a:r>
            <a:pPr indent="0" marL="0">
              <a:buNone/>
            </a:pPr>
            <a:r>
              <a:rPr lang="en-US" sz="1200" dirty="0">
                <a:solidFill>
                  <a:srgbClr val="0F1A2C"/>
                </a:solidFill>
                <a:latin typeface="Calibri" pitchFamily="34" charset="0"/>
                <a:ea typeface="Calibri" pitchFamily="34" charset="-122"/>
                <a:cs typeface="Calibri" pitchFamily="34" charset="-120"/>
              </a:rPr>
              <a:t>  coding conventions and patterns</a:t>
            </a:r>
            <a:endParaRPr lang="en-US" sz="1200" dirty="0"/>
          </a:p>
        </p:txBody>
      </p:sp>
      <p:sp>
        <p:nvSpPr>
          <p:cNvPr id="11" name="Text 9"/>
          <p:cNvSpPr/>
          <p:nvPr/>
        </p:nvSpPr>
        <p:spPr>
          <a:xfrm>
            <a:off x="4754880" y="3474720"/>
            <a:ext cx="4023360" cy="502920"/>
          </a:xfrm>
          <a:prstGeom prst="rect">
            <a:avLst/>
          </a:prstGeom>
          <a:noFill/>
          <a:ln/>
        </p:spPr>
        <p:txBody>
          <a:bodyPr wrap="square" lIns="0" tIns="0" rIns="0" bIns="0" rtlCol="0" anchor="ctr"/>
          <a:lstStyle/>
          <a:p>
            <a:pPr indent="0" marL="0">
              <a:buNone/>
            </a:pPr>
            <a:r>
              <a:rPr lang="en-US" sz="1200" b="1" dirty="0">
                <a:solidFill>
                  <a:srgbClr val="003B70"/>
                </a:solidFill>
                <a:latin typeface="Consolas" pitchFamily="34" charset="0"/>
                <a:ea typeface="Consolas" pitchFamily="34" charset="-122"/>
                <a:cs typeface="Consolas" pitchFamily="34" charset="-120"/>
              </a:rPr>
              <a:t>specs/</a:t>
            </a:r>
            <a:pPr indent="0" marL="0">
              <a:buNone/>
            </a:pPr>
            <a:r>
              <a:rPr lang="en-US" sz="1200" dirty="0">
                <a:solidFill>
                  <a:srgbClr val="0F1A2C"/>
                </a:solidFill>
                <a:latin typeface="Calibri" pitchFamily="34" charset="0"/>
                <a:ea typeface="Calibri" pitchFamily="34" charset="-122"/>
                <a:cs typeface="Calibri" pitchFamily="34" charset="-120"/>
              </a:rPr>
              <a:t>  schemas and domain specs</a:t>
            </a:r>
            <a:endParaRPr lang="en-US" sz="1200" dirty="0"/>
          </a:p>
        </p:txBody>
      </p:sp>
      <p:sp>
        <p:nvSpPr>
          <p:cNvPr id="12" name="Text 10"/>
          <p:cNvSpPr/>
          <p:nvPr/>
        </p:nvSpPr>
        <p:spPr>
          <a:xfrm>
            <a:off x="4754880" y="3977640"/>
            <a:ext cx="4023360" cy="502920"/>
          </a:xfrm>
          <a:prstGeom prst="rect">
            <a:avLst/>
          </a:prstGeom>
          <a:noFill/>
          <a:ln/>
        </p:spPr>
        <p:txBody>
          <a:bodyPr wrap="square" lIns="0" tIns="0" rIns="0" bIns="0" rtlCol="0" anchor="ctr"/>
          <a:lstStyle/>
          <a:p>
            <a:pPr indent="0" marL="0">
              <a:buNone/>
            </a:pPr>
            <a:r>
              <a:rPr lang="en-US" sz="1200" b="1" dirty="0">
                <a:solidFill>
                  <a:srgbClr val="003B70"/>
                </a:solidFill>
                <a:latin typeface="Consolas" pitchFamily="34" charset="0"/>
                <a:ea typeface="Consolas" pitchFamily="34" charset="-122"/>
                <a:cs typeface="Consolas" pitchFamily="34" charset="-120"/>
              </a:rPr>
              <a:t>spec-agent-kit/</a:t>
            </a:r>
            <a:pPr indent="0" marL="0">
              <a:buNone/>
            </a:pPr>
            <a:r>
              <a:rPr lang="en-US" sz="1200" dirty="0">
                <a:solidFill>
                  <a:srgbClr val="0F1A2C"/>
                </a:solidFill>
                <a:latin typeface="Calibri" pitchFamily="34" charset="0"/>
                <a:ea typeface="Calibri" pitchFamily="34" charset="-122"/>
                <a:cs typeface="Calibri" pitchFamily="34" charset="-120"/>
              </a:rPr>
              <a:t>  the distributable — drop into any repo</a:t>
            </a:r>
            <a:endParaRPr lang="en-US" sz="1200" dirty="0"/>
          </a:p>
        </p:txBody>
      </p:sp>
      <p:sp>
        <p:nvSpPr>
          <p:cNvPr id="13" name="Text 11"/>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9 / 19</a:t>
            </a:r>
            <a:endParaRPr lang="en-US" sz="900" dirty="0"/>
          </a:p>
        </p:txBody>
      </p:sp>
      <p:sp>
        <p:nvSpPr>
          <p:cNvPr id="14" name="Text 12"/>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THE MODEL</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Copy what you need. Consistency stays.</a:t>
            </a:r>
            <a:endParaRPr lang="en-US" sz="2600" dirty="0"/>
          </a:p>
        </p:txBody>
      </p:sp>
      <p:sp>
        <p:nvSpPr>
          <p:cNvPr id="5" name="Shape 3"/>
          <p:cNvSpPr/>
          <p:nvPr/>
        </p:nvSpPr>
        <p:spPr>
          <a:xfrm>
            <a:off x="457200" y="1554480"/>
            <a:ext cx="8229600" cy="1371600"/>
          </a:xfrm>
          <a:prstGeom prst="rect">
            <a:avLst/>
          </a:prstGeom>
          <a:solidFill>
            <a:srgbClr val="F4F6FA"/>
          </a:solidFill>
          <a:ln/>
        </p:spPr>
      </p:sp>
      <p:sp>
        <p:nvSpPr>
          <p:cNvPr id="6" name="Shape 4"/>
          <p:cNvSpPr/>
          <p:nvPr/>
        </p:nvSpPr>
        <p:spPr>
          <a:xfrm>
            <a:off x="457200" y="1554480"/>
            <a:ext cx="73152" cy="1371600"/>
          </a:xfrm>
          <a:prstGeom prst="rect">
            <a:avLst/>
          </a:prstGeom>
          <a:solidFill>
            <a:srgbClr val="003B70"/>
          </a:solidFill>
          <a:ln/>
        </p:spPr>
      </p:sp>
      <p:sp>
        <p:nvSpPr>
          <p:cNvPr id="7" name="Text 5"/>
          <p:cNvSpPr/>
          <p:nvPr/>
        </p:nvSpPr>
        <p:spPr>
          <a:xfrm>
            <a:off x="777240" y="1691640"/>
            <a:ext cx="7680960" cy="1097280"/>
          </a:xfrm>
          <a:prstGeom prst="rect">
            <a:avLst/>
          </a:prstGeom>
          <a:noFill/>
          <a:ln/>
        </p:spPr>
        <p:txBody>
          <a:bodyPr wrap="square" lIns="0" tIns="0" rIns="0" bIns="0" rtlCol="0" anchor="ctr"/>
          <a:lstStyle/>
          <a:p>
            <a:pPr indent="0" marL="0">
              <a:buNone/>
            </a:pPr>
            <a:r>
              <a:rPr lang="en-US" sz="2200" b="1" dirty="0">
                <a:solidFill>
                  <a:srgbClr val="0F1A2C"/>
                </a:solidFill>
                <a:latin typeface="Georgia" pitchFamily="34" charset="0"/>
                <a:ea typeface="Georgia" pitchFamily="34" charset="-122"/>
                <a:cs typeface="Georgia" pitchFamily="34" charset="-120"/>
              </a:rPr>
              <a:t>You copy the kit into your repo. You own it. You can modify it.</a:t>
            </a:r>
            <a:endParaRPr lang="en-US" sz="2200" dirty="0"/>
          </a:p>
        </p:txBody>
      </p:sp>
      <p:sp>
        <p:nvSpPr>
          <p:cNvPr id="8" name="Shape 6"/>
          <p:cNvSpPr/>
          <p:nvPr/>
        </p:nvSpPr>
        <p:spPr>
          <a:xfrm>
            <a:off x="457200" y="3063240"/>
            <a:ext cx="8229600" cy="1371600"/>
          </a:xfrm>
          <a:prstGeom prst="rect">
            <a:avLst/>
          </a:prstGeom>
          <a:solidFill>
            <a:srgbClr val="FBE5E3"/>
          </a:solidFill>
          <a:ln/>
        </p:spPr>
      </p:sp>
      <p:sp>
        <p:nvSpPr>
          <p:cNvPr id="9" name="Shape 7"/>
          <p:cNvSpPr/>
          <p:nvPr/>
        </p:nvSpPr>
        <p:spPr>
          <a:xfrm>
            <a:off x="457200" y="3063240"/>
            <a:ext cx="73152" cy="1371600"/>
          </a:xfrm>
          <a:prstGeom prst="rect">
            <a:avLst/>
          </a:prstGeom>
          <a:solidFill>
            <a:srgbClr val="D9261C"/>
          </a:solidFill>
          <a:ln/>
        </p:spPr>
      </p:sp>
      <p:sp>
        <p:nvSpPr>
          <p:cNvPr id="10" name="Text 8"/>
          <p:cNvSpPr/>
          <p:nvPr/>
        </p:nvSpPr>
        <p:spPr>
          <a:xfrm>
            <a:off x="777240" y="3200400"/>
            <a:ext cx="7680960" cy="1097280"/>
          </a:xfrm>
          <a:prstGeom prst="rect">
            <a:avLst/>
          </a:prstGeom>
          <a:noFill/>
          <a:ln/>
        </p:spPr>
        <p:txBody>
          <a:bodyPr wrap="square" lIns="0" tIns="0" rIns="0" bIns="0" rtlCol="0" anchor="ctr"/>
          <a:lstStyle/>
          <a:p>
            <a:pPr indent="0" marL="0">
              <a:buNone/>
            </a:pPr>
            <a:r>
              <a:rPr lang="en-US" sz="2200" b="1" dirty="0">
                <a:solidFill>
                  <a:srgbClr val="0F1A2C"/>
                </a:solidFill>
                <a:latin typeface="Georgia" pitchFamily="34" charset="0"/>
                <a:ea typeface="Georgia" pitchFamily="34" charset="-122"/>
                <a:cs typeface="Georgia" pitchFamily="34" charset="-120"/>
              </a:rPr>
              <a:t>Schemas and standards keep the output consistent across teams.</a:t>
            </a:r>
            <a:endParaRPr lang="en-US" sz="2200" dirty="0"/>
          </a:p>
        </p:txBody>
      </p:sp>
      <p:sp>
        <p:nvSpPr>
          <p:cNvPr id="11" name="Text 9"/>
          <p:cNvSpPr/>
          <p:nvPr/>
        </p:nvSpPr>
        <p:spPr>
          <a:xfrm>
            <a:off x="457200" y="4526280"/>
            <a:ext cx="8229600" cy="274320"/>
          </a:xfrm>
          <a:prstGeom prst="rect">
            <a:avLst/>
          </a:prstGeom>
          <a:noFill/>
          <a:ln/>
        </p:spPr>
        <p:txBody>
          <a:bodyPr wrap="square" lIns="0" tIns="0" rIns="0" bIns="0" rtlCol="0" anchor="ctr"/>
          <a:lstStyle/>
          <a:p>
            <a:pPr indent="0" marL="0">
              <a:buNone/>
            </a:pPr>
            <a:r>
              <a:rPr lang="en-US" sz="1100" i="1" dirty="0">
                <a:solidFill>
                  <a:srgbClr val="5B6A82"/>
                </a:solidFill>
                <a:latin typeface="Calibri" pitchFamily="34" charset="0"/>
                <a:ea typeface="Calibri" pitchFamily="34" charset="-122"/>
                <a:cs typeface="Calibri" pitchFamily="34" charset="-120"/>
              </a:rPr>
              <a:t>More on the model as it matures. Today: what's working.</a:t>
            </a:r>
            <a:endParaRPr lang="en-US" sz="1100" dirty="0"/>
          </a:p>
        </p:txBody>
      </p:sp>
      <p:sp>
        <p:nvSpPr>
          <p:cNvPr id="12" name="Text 10"/>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10 / 19</a:t>
            </a:r>
            <a:endParaRPr lang="en-US" sz="900" dirty="0"/>
          </a:p>
        </p:txBody>
      </p:sp>
      <p:sp>
        <p:nvSpPr>
          <p:cNvPr id="13" name="Text 11"/>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PLATFORM ADAPTERS</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Same content. Different filenames.</a:t>
            </a:r>
            <a:endParaRPr lang="en-US" sz="2600" dirty="0"/>
          </a:p>
        </p:txBody>
      </p:sp>
      <p:sp>
        <p:nvSpPr>
          <p:cNvPr id="5" name="Shape 3"/>
          <p:cNvSpPr/>
          <p:nvPr/>
        </p:nvSpPr>
        <p:spPr>
          <a:xfrm>
            <a:off x="457200" y="1371600"/>
            <a:ext cx="4023360" cy="2743200"/>
          </a:xfrm>
          <a:prstGeom prst="rect">
            <a:avLst/>
          </a:prstGeom>
          <a:solidFill>
            <a:srgbClr val="0F1A2C"/>
          </a:solidFill>
          <a:ln/>
        </p:spPr>
      </p:sp>
      <p:sp>
        <p:nvSpPr>
          <p:cNvPr id="6" name="Text 4"/>
          <p:cNvSpPr/>
          <p:nvPr/>
        </p:nvSpPr>
        <p:spPr>
          <a:xfrm>
            <a:off x="640080" y="1463040"/>
            <a:ext cx="3657600" cy="228600"/>
          </a:xfrm>
          <a:prstGeom prst="rect">
            <a:avLst/>
          </a:prstGeom>
          <a:noFill/>
          <a:ln/>
        </p:spPr>
        <p:txBody>
          <a:bodyPr wrap="square" lIns="0" tIns="0" rIns="0" bIns="0" rtlCol="0" anchor="ctr"/>
          <a:lstStyle/>
          <a:p>
            <a:pPr indent="0" marL="0">
              <a:buNone/>
            </a:pPr>
            <a:r>
              <a:rPr lang="en-US" sz="1000" b="1" spc="400" kern="0" dirty="0">
                <a:solidFill>
                  <a:srgbClr val="9FB6D3"/>
                </a:solidFill>
                <a:latin typeface="Calibri" pitchFamily="34" charset="0"/>
                <a:ea typeface="Calibri" pitchFamily="34" charset="-122"/>
                <a:cs typeface="Calibri" pitchFamily="34" charset="-120"/>
              </a:rPr>
              <a:t>FOR DEVIN</a:t>
            </a:r>
            <a:endParaRPr lang="en-US" sz="1000" dirty="0"/>
          </a:p>
        </p:txBody>
      </p:sp>
      <p:sp>
        <p:nvSpPr>
          <p:cNvPr id="7" name="Text 5"/>
          <p:cNvSpPr/>
          <p:nvPr/>
        </p:nvSpPr>
        <p:spPr>
          <a:xfrm>
            <a:off x="640080" y="1691640"/>
            <a:ext cx="3657600" cy="36576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.devin/knowledge.md</a:t>
            </a:r>
            <a:endParaRPr lang="en-US" sz="1300" dirty="0"/>
          </a:p>
        </p:txBody>
      </p:sp>
      <p:sp>
        <p:nvSpPr>
          <p:cNvPr id="8" name="Text 6"/>
          <p:cNvSpPr/>
          <p:nvPr/>
        </p:nvSpPr>
        <p:spPr>
          <a:xfrm>
            <a:off x="640080" y="2194560"/>
            <a:ext cx="3657600" cy="1828800"/>
          </a:xfrm>
          <a:prstGeom prst="rect">
            <a:avLst/>
          </a:prstGeom>
          <a:noFill/>
          <a:ln/>
        </p:spPr>
        <p:txBody>
          <a:bodyPr wrap="square" rtlCol="0" anchor="ctr"/>
          <a:lstStyle/>
          <a:p>
            <a:pPr indent="0" marL="0">
              <a:spcAft>
                <a:spcPts val="100"/>
              </a:spcAft>
              <a:buNone/>
            </a:pPr>
            <a:r>
              <a:rPr lang="en-US" sz="1000" b="1" dirty="0">
                <a:solidFill>
                  <a:srgbClr val="FBE5E3"/>
                </a:solidFill>
                <a:latin typeface="Consolas" pitchFamily="34" charset="0"/>
                <a:ea typeface="Consolas" pitchFamily="34" charset="-122"/>
                <a:cs typeface="Consolas" pitchFamily="34" charset="-120"/>
              </a:rPr>
              <a:t># Devin Knowledge — spec-agent</a:t>
            </a:r>
            <a:endParaRPr lang="en-US" sz="1000" dirty="0"/>
          </a:p>
          <a:p>
            <a:pPr indent="0" marL="0">
              <a:spcAft>
                <a:spcPts val="100"/>
              </a:spcAft>
              <a:buNone/>
            </a:pPr>
            <a:r>
              <a:rPr lang="en-US" sz="600" dirty="0">
                <a:solidFill>
                  <a:srgbClr val="000000"/>
                </a:solidFill>
                <a:latin typeface="Consolas" pitchFamily="34" charset="0"/>
                <a:ea typeface="Consolas" pitchFamily="34" charset="-122"/>
                <a:cs typeface="Consolas" pitchFamily="34" charset="-120"/>
              </a:rPr>
              <a:t> </a:t>
            </a:r>
            <a:endParaRPr lang="en-US" sz="1000" dirty="0"/>
          </a:p>
          <a:p>
            <a:pPr indent="0" marL="0">
              <a:spcAft>
                <a:spcPts val="100"/>
              </a:spcAft>
              <a:buNone/>
            </a:pPr>
            <a:r>
              <a:rPr lang="en-US" sz="1000" dirty="0">
                <a:solidFill>
                  <a:srgbClr val="9FB6D3"/>
                </a:solidFill>
                <a:latin typeface="Consolas" pitchFamily="34" charset="0"/>
                <a:ea typeface="Consolas" pitchFamily="34" charset="-122"/>
                <a:cs typeface="Consolas" pitchFamily="34" charset="-120"/>
              </a:rPr>
              <a:t>## Operating Rules</a:t>
            </a:r>
            <a:endParaRPr lang="en-US" sz="1000" dirty="0"/>
          </a:p>
          <a:p>
            <a:pPr indent="0" marL="0">
              <a:spcAft>
                <a:spcPts val="100"/>
              </a:spcAft>
              <a:buNone/>
            </a:pPr>
            <a:r>
              <a:rPr lang="en-US" sz="600" dirty="0">
                <a:solidFill>
                  <a:srgbClr val="000000"/>
                </a:solidFill>
                <a:latin typeface="Consolas" pitchFamily="34" charset="0"/>
                <a:ea typeface="Consolas" pitchFamily="34" charset="-122"/>
                <a:cs typeface="Consolas" pitchFamily="34" charset="-120"/>
              </a:rPr>
              <a:t> </a:t>
            </a:r>
            <a:endParaRPr lang="en-US" sz="1000" dirty="0"/>
          </a:p>
          <a:p>
            <a:pPr indent="0" marL="0">
              <a:spcAft>
                <a:spcPts val="100"/>
              </a:spcAft>
              <a:buNone/>
            </a:pPr>
            <a:r>
              <a:rPr lang="en-US" sz="1000" dirty="0">
                <a:solidFill>
                  <a:srgbClr val="FFFFFF"/>
                </a:solidFill>
                <a:latin typeface="Consolas" pitchFamily="34" charset="0"/>
                <a:ea typeface="Consolas" pitchFamily="34" charset="-122"/>
                <a:cs typeface="Consolas" pitchFamily="34" charset="-120"/>
              </a:rPr>
              <a:t>Before every task:</a:t>
            </a:r>
            <a:endParaRPr lang="en-US" sz="1000" dirty="0"/>
          </a:p>
          <a:p>
            <a:pPr indent="0" marL="0">
              <a:spcAft>
                <a:spcPts val="100"/>
              </a:spcAft>
              <a:buNone/>
            </a:pPr>
            <a:r>
              <a:rPr lang="en-US" sz="1000" dirty="0">
                <a:solidFill>
                  <a:srgbClr val="FFFFFF"/>
                </a:solidFill>
                <a:latin typeface="Consolas" pitchFamily="34" charset="0"/>
                <a:ea typeface="Consolas" pitchFamily="34" charset="-122"/>
                <a:cs typeface="Consolas" pitchFamily="34" charset="-120"/>
              </a:rPr>
              <a:t>1. Read spec-agent/AGENTS.md</a:t>
            </a:r>
            <a:endParaRPr lang="en-US" sz="1000" dirty="0"/>
          </a:p>
          <a:p>
            <a:pPr indent="0" marL="0">
              <a:spcAft>
                <a:spcPts val="100"/>
              </a:spcAft>
              <a:buNone/>
            </a:pPr>
            <a:r>
              <a:rPr lang="en-US" sz="1000" dirty="0">
                <a:solidFill>
                  <a:srgbClr val="FFFFFF"/>
                </a:solidFill>
                <a:latin typeface="Consolas" pitchFamily="34" charset="0"/>
                <a:ea typeface="Consolas" pitchFamily="34" charset="-122"/>
                <a:cs typeface="Consolas" pitchFamily="34" charset="-120"/>
              </a:rPr>
              <a:t>2. Load the persona...</a:t>
            </a:r>
            <a:endParaRPr lang="en-US" sz="1000" dirty="0"/>
          </a:p>
          <a:p>
            <a:pPr indent="0" marL="0">
              <a:spcAft>
                <a:spcPts val="100"/>
              </a:spcAft>
              <a:buNone/>
            </a:pPr>
            <a:r>
              <a:rPr lang="en-US" sz="1000" dirty="0">
                <a:solidFill>
                  <a:srgbClr val="FFFFFF"/>
                </a:solidFill>
                <a:latin typeface="Consolas" pitchFamily="34" charset="0"/>
                <a:ea typeface="Consolas" pitchFamily="34" charset="-122"/>
                <a:cs typeface="Consolas" pitchFamily="34" charset="-120"/>
              </a:rPr>
              <a:t>3. Load standards...</a:t>
            </a:r>
            <a:endParaRPr lang="en-US" sz="1000" dirty="0"/>
          </a:p>
          <a:p>
            <a:pPr indent="0" marL="0">
              <a:spcAft>
                <a:spcPts val="100"/>
              </a:spcAft>
              <a:buNone/>
            </a:pPr>
            <a:r>
              <a:rPr lang="en-US" sz="1000" dirty="0">
                <a:solidFill>
                  <a:srgbClr val="FFFFFF"/>
                </a:solidFill>
                <a:latin typeface="Consolas" pitchFamily="34" charset="0"/>
                <a:ea typeface="Consolas" pitchFamily="34" charset="-122"/>
                <a:cs typeface="Consolas" pitchFamily="34" charset="-120"/>
              </a:rPr>
              <a:t>4. Validate against schemas...</a:t>
            </a:r>
            <a:endParaRPr lang="en-US" sz="1000" dirty="0"/>
          </a:p>
        </p:txBody>
      </p:sp>
      <p:sp>
        <p:nvSpPr>
          <p:cNvPr id="9" name="Shape 7"/>
          <p:cNvSpPr/>
          <p:nvPr/>
        </p:nvSpPr>
        <p:spPr>
          <a:xfrm>
            <a:off x="4663440" y="1371600"/>
            <a:ext cx="4023360" cy="2743200"/>
          </a:xfrm>
          <a:prstGeom prst="rect">
            <a:avLst/>
          </a:prstGeom>
          <a:solidFill>
            <a:srgbClr val="0F1A2C"/>
          </a:solidFill>
          <a:ln/>
        </p:spPr>
      </p:sp>
      <p:sp>
        <p:nvSpPr>
          <p:cNvPr id="10" name="Text 8"/>
          <p:cNvSpPr/>
          <p:nvPr/>
        </p:nvSpPr>
        <p:spPr>
          <a:xfrm>
            <a:off x="4846320" y="1463040"/>
            <a:ext cx="3657600" cy="228600"/>
          </a:xfrm>
          <a:prstGeom prst="rect">
            <a:avLst/>
          </a:prstGeom>
          <a:noFill/>
          <a:ln/>
        </p:spPr>
        <p:txBody>
          <a:bodyPr wrap="square" lIns="0" tIns="0" rIns="0" bIns="0" rtlCol="0" anchor="ctr"/>
          <a:lstStyle/>
          <a:p>
            <a:pPr indent="0" marL="0">
              <a:buNone/>
            </a:pPr>
            <a:r>
              <a:rPr lang="en-US" sz="1000" b="1" spc="400" kern="0" dirty="0">
                <a:solidFill>
                  <a:srgbClr val="9FB6D3"/>
                </a:solidFill>
                <a:latin typeface="Calibri" pitchFamily="34" charset="0"/>
                <a:ea typeface="Calibri" pitchFamily="34" charset="-122"/>
                <a:cs typeface="Calibri" pitchFamily="34" charset="-120"/>
              </a:rPr>
              <a:t>FOR COPILOT</a:t>
            </a:r>
            <a:endParaRPr lang="en-US" sz="1000" dirty="0"/>
          </a:p>
        </p:txBody>
      </p:sp>
      <p:sp>
        <p:nvSpPr>
          <p:cNvPr id="11" name="Text 9"/>
          <p:cNvSpPr/>
          <p:nvPr/>
        </p:nvSpPr>
        <p:spPr>
          <a:xfrm>
            <a:off x="4846320" y="1691640"/>
            <a:ext cx="3749040" cy="36576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.github/copilot-instructions.md</a:t>
            </a:r>
            <a:endParaRPr lang="en-US" sz="1300" dirty="0"/>
          </a:p>
        </p:txBody>
      </p:sp>
      <p:sp>
        <p:nvSpPr>
          <p:cNvPr id="12" name="Text 10"/>
          <p:cNvSpPr/>
          <p:nvPr/>
        </p:nvSpPr>
        <p:spPr>
          <a:xfrm>
            <a:off x="4846320" y="2194560"/>
            <a:ext cx="3657600" cy="1828800"/>
          </a:xfrm>
          <a:prstGeom prst="rect">
            <a:avLst/>
          </a:prstGeom>
          <a:noFill/>
          <a:ln/>
        </p:spPr>
        <p:txBody>
          <a:bodyPr wrap="square" rtlCol="0" anchor="ctr"/>
          <a:lstStyle/>
          <a:p>
            <a:pPr indent="0" marL="0">
              <a:spcAft>
                <a:spcPts val="100"/>
              </a:spcAft>
              <a:buNone/>
            </a:pPr>
            <a:r>
              <a:rPr lang="en-US" sz="1000" b="1" dirty="0">
                <a:solidFill>
                  <a:srgbClr val="FBE5E3"/>
                </a:solidFill>
                <a:latin typeface="Consolas" pitchFamily="34" charset="0"/>
                <a:ea typeface="Consolas" pitchFamily="34" charset="-122"/>
                <a:cs typeface="Consolas" pitchFamily="34" charset="-120"/>
              </a:rPr>
              <a:t># Copilot Instructions — spec-agent</a:t>
            </a:r>
            <a:endParaRPr lang="en-US" sz="1000" dirty="0"/>
          </a:p>
          <a:p>
            <a:pPr indent="0" marL="0">
              <a:spcAft>
                <a:spcPts val="100"/>
              </a:spcAft>
              <a:buNone/>
            </a:pPr>
            <a:r>
              <a:rPr lang="en-US" sz="600" dirty="0">
                <a:solidFill>
                  <a:srgbClr val="000000"/>
                </a:solidFill>
                <a:latin typeface="Consolas" pitchFamily="34" charset="0"/>
                <a:ea typeface="Consolas" pitchFamily="34" charset="-122"/>
                <a:cs typeface="Consolas" pitchFamily="34" charset="-120"/>
              </a:rPr>
              <a:t> </a:t>
            </a:r>
            <a:endParaRPr lang="en-US" sz="1000" dirty="0"/>
          </a:p>
          <a:p>
            <a:pPr indent="0" marL="0">
              <a:spcAft>
                <a:spcPts val="100"/>
              </a:spcAft>
              <a:buNone/>
            </a:pPr>
            <a:r>
              <a:rPr lang="en-US" sz="1000" dirty="0">
                <a:solidFill>
                  <a:srgbClr val="9FB6D3"/>
                </a:solidFill>
                <a:latin typeface="Consolas" pitchFamily="34" charset="0"/>
                <a:ea typeface="Consolas" pitchFamily="34" charset="-122"/>
                <a:cs typeface="Consolas" pitchFamily="34" charset="-120"/>
              </a:rPr>
              <a:t>## How to Operate</a:t>
            </a:r>
            <a:endParaRPr lang="en-US" sz="1000" dirty="0"/>
          </a:p>
          <a:p>
            <a:pPr indent="0" marL="0">
              <a:spcAft>
                <a:spcPts val="100"/>
              </a:spcAft>
              <a:buNone/>
            </a:pPr>
            <a:r>
              <a:rPr lang="en-US" sz="600" dirty="0">
                <a:solidFill>
                  <a:srgbClr val="000000"/>
                </a:solidFill>
                <a:latin typeface="Consolas" pitchFamily="34" charset="0"/>
                <a:ea typeface="Consolas" pitchFamily="34" charset="-122"/>
                <a:cs typeface="Consolas" pitchFamily="34" charset="-120"/>
              </a:rPr>
              <a:t> </a:t>
            </a:r>
            <a:endParaRPr lang="en-US" sz="1000" dirty="0"/>
          </a:p>
          <a:p>
            <a:pPr indent="0" marL="0">
              <a:spcAft>
                <a:spcPts val="100"/>
              </a:spcAft>
              <a:buNone/>
            </a:pPr>
            <a:r>
              <a:rPr lang="en-US" sz="1000" dirty="0">
                <a:solidFill>
                  <a:srgbClr val="FFFFFF"/>
                </a:solidFill>
                <a:latin typeface="Consolas" pitchFamily="34" charset="0"/>
                <a:ea typeface="Consolas" pitchFamily="34" charset="-122"/>
                <a:cs typeface="Consolas" pitchFamily="34" charset="-120"/>
              </a:rPr>
              <a:t>1. Identify your persona — read AGENTS.md</a:t>
            </a:r>
            <a:endParaRPr lang="en-US" sz="1000" dirty="0"/>
          </a:p>
          <a:p>
            <a:pPr indent="0" marL="0">
              <a:spcAft>
                <a:spcPts val="100"/>
              </a:spcAft>
              <a:buNone/>
            </a:pPr>
            <a:r>
              <a:rPr lang="en-US" sz="1000" dirty="0">
                <a:solidFill>
                  <a:srgbClr val="FFFFFF"/>
                </a:solidFill>
                <a:latin typeface="Consolas" pitchFamily="34" charset="0"/>
                <a:ea typeface="Consolas" pitchFamily="34" charset="-122"/>
                <a:cs typeface="Consolas" pitchFamily="34" charset="-120"/>
              </a:rPr>
              <a:t>2. Check for a domain spec</a:t>
            </a:r>
            <a:endParaRPr lang="en-US" sz="1000" dirty="0"/>
          </a:p>
          <a:p>
            <a:pPr indent="0" marL="0">
              <a:spcAft>
                <a:spcPts val="100"/>
              </a:spcAft>
              <a:buNone/>
            </a:pPr>
            <a:r>
              <a:rPr lang="en-US" sz="1000" dirty="0">
                <a:solidFill>
                  <a:srgbClr val="FFFFFF"/>
                </a:solidFill>
                <a:latin typeface="Consolas" pitchFamily="34" charset="0"/>
                <a:ea typeface="Consolas" pitchFamily="34" charset="-122"/>
                <a:cs typeface="Consolas" pitchFamily="34" charset="-120"/>
              </a:rPr>
              <a:t>3. Follow standards</a:t>
            </a:r>
            <a:endParaRPr lang="en-US" sz="1000" dirty="0"/>
          </a:p>
          <a:p>
            <a:pPr indent="0" marL="0">
              <a:spcAft>
                <a:spcPts val="100"/>
              </a:spcAft>
              <a:buNone/>
            </a:pPr>
            <a:r>
              <a:rPr lang="en-US" sz="1000" dirty="0">
                <a:solidFill>
                  <a:srgbClr val="FFFFFF"/>
                </a:solidFill>
                <a:latin typeface="Consolas" pitchFamily="34" charset="0"/>
                <a:ea typeface="Consolas" pitchFamily="34" charset="-122"/>
                <a:cs typeface="Consolas" pitchFamily="34" charset="-120"/>
              </a:rPr>
              <a:t>4. Produce schema-valid output</a:t>
            </a:r>
            <a:endParaRPr lang="en-US" sz="1000" dirty="0"/>
          </a:p>
        </p:txBody>
      </p:sp>
      <p:sp>
        <p:nvSpPr>
          <p:cNvPr id="13" name="Text 11"/>
          <p:cNvSpPr/>
          <p:nvPr/>
        </p:nvSpPr>
        <p:spPr>
          <a:xfrm>
            <a:off x="457200" y="4297680"/>
            <a:ext cx="8229600" cy="274320"/>
          </a:xfrm>
          <a:prstGeom prst="rect">
            <a:avLst/>
          </a:prstGeom>
          <a:noFill/>
          <a:ln/>
        </p:spPr>
        <p:txBody>
          <a:bodyPr wrap="square" lIns="0" tIns="0" rIns="0" bIns="0" rtlCol="0" anchor="ctr"/>
          <a:lstStyle/>
          <a:p>
            <a:pPr algn="ctr" indent="0" marL="0">
              <a:buNone/>
            </a:pPr>
            <a:r>
              <a:rPr lang="en-US" sz="1400" b="1" i="1" dirty="0">
                <a:solidFill>
                  <a:srgbClr val="003B70"/>
                </a:solidFill>
                <a:latin typeface="Georgia" pitchFamily="34" charset="0"/>
                <a:ea typeface="Georgia" pitchFamily="34" charset="-122"/>
                <a:cs typeface="Georgia" pitchFamily="34" charset="-120"/>
              </a:rPr>
              <a:t>Both files are thin. Both point back to AGENTS.md. One source of truth.</a:t>
            </a:r>
            <a:endParaRPr lang="en-US" sz="1400" dirty="0"/>
          </a:p>
        </p:txBody>
      </p:sp>
      <p:sp>
        <p:nvSpPr>
          <p:cNvPr id="14" name="Text 12"/>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11 / 19</a:t>
            </a:r>
            <a:endParaRPr lang="en-US" sz="900" dirty="0"/>
          </a:p>
        </p:txBody>
      </p:sp>
      <p:sp>
        <p:nvSpPr>
          <p:cNvPr id="15" name="Text 13"/>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SYNERGY</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The handoff goes both ways</a:t>
            </a:r>
            <a:endParaRPr lang="en-US" sz="2600" dirty="0"/>
          </a:p>
        </p:txBody>
      </p:sp>
      <p:sp>
        <p:nvSpPr>
          <p:cNvPr id="5" name="Text 3"/>
          <p:cNvSpPr/>
          <p:nvPr/>
        </p:nvSpPr>
        <p:spPr>
          <a:xfrm>
            <a:off x="457200" y="1170432"/>
            <a:ext cx="8229600" cy="228600"/>
          </a:xfrm>
          <a:prstGeom prst="rect">
            <a:avLst/>
          </a:prstGeom>
          <a:noFill/>
          <a:ln/>
        </p:spPr>
        <p:txBody>
          <a:bodyPr wrap="square" lIns="0" tIns="0" rIns="0" bIns="0" rtlCol="0" anchor="ctr"/>
          <a:lstStyle/>
          <a:p>
            <a:pPr indent="0" marL="0">
              <a:buNone/>
            </a:pPr>
            <a:r>
              <a:rPr lang="en-US" sz="1000" b="1" spc="300" kern="0" dirty="0">
                <a:solidFill>
                  <a:srgbClr val="003B70"/>
                </a:solidFill>
                <a:latin typeface="Calibri" pitchFamily="34" charset="0"/>
                <a:ea typeface="Calibri" pitchFamily="34" charset="-122"/>
                <a:cs typeface="Calibri" pitchFamily="34" charset="-120"/>
              </a:rPr>
              <a:t>SPEC-DRIVEN  ·  BOUNDED WORK INSIDE A REPO</a:t>
            </a:r>
            <a:endParaRPr lang="en-US" sz="1000" dirty="0"/>
          </a:p>
        </p:txBody>
      </p:sp>
      <p:sp>
        <p:nvSpPr>
          <p:cNvPr id="6" name="Shape 4"/>
          <p:cNvSpPr/>
          <p:nvPr/>
        </p:nvSpPr>
        <p:spPr>
          <a:xfrm>
            <a:off x="626364" y="1463040"/>
            <a:ext cx="1417320" cy="960120"/>
          </a:xfrm>
          <a:prstGeom prst="rect">
            <a:avLst/>
          </a:prstGeom>
          <a:solidFill>
            <a:srgbClr val="FFFFFF"/>
          </a:solidFill>
          <a:ln w="25400">
            <a:solidFill>
              <a:srgbClr val="5B6A82"/>
            </a:solidFill>
            <a:prstDash val="solid"/>
          </a:ln>
        </p:spPr>
      </p:sp>
      <p:sp>
        <p:nvSpPr>
          <p:cNvPr id="7" name="Shape 5"/>
          <p:cNvSpPr/>
          <p:nvPr/>
        </p:nvSpPr>
        <p:spPr>
          <a:xfrm>
            <a:off x="626364" y="1463040"/>
            <a:ext cx="1417320" cy="91440"/>
          </a:xfrm>
          <a:prstGeom prst="rect">
            <a:avLst/>
          </a:prstGeom>
          <a:solidFill>
            <a:srgbClr val="5B6A82"/>
          </a:solidFill>
          <a:ln/>
        </p:spPr>
      </p:sp>
      <p:sp>
        <p:nvSpPr>
          <p:cNvPr id="8" name="Text 6"/>
          <p:cNvSpPr/>
          <p:nvPr/>
        </p:nvSpPr>
        <p:spPr>
          <a:xfrm>
            <a:off x="626364" y="1627632"/>
            <a:ext cx="1417320" cy="292608"/>
          </a:xfrm>
          <a:prstGeom prst="rect">
            <a:avLst/>
          </a:prstGeom>
          <a:noFill/>
          <a:ln/>
        </p:spPr>
        <p:txBody>
          <a:bodyPr wrap="square" lIns="0" tIns="0" rIns="0" bIns="0" rtlCol="0" anchor="ctr"/>
          <a:lstStyle/>
          <a:p>
            <a:pPr algn="ctr" indent="0" marL="0">
              <a:buNone/>
            </a:pPr>
            <a:r>
              <a:rPr lang="en-US" sz="1300" b="1" dirty="0">
                <a:solidFill>
                  <a:srgbClr val="5B6A82"/>
                </a:solidFill>
                <a:latin typeface="Calibri" pitchFamily="34" charset="0"/>
                <a:ea typeface="Calibri" pitchFamily="34" charset="-122"/>
                <a:cs typeface="Calibri" pitchFamily="34" charset="-120"/>
              </a:rPr>
              <a:t>Developer</a:t>
            </a:r>
            <a:endParaRPr lang="en-US" sz="1300" dirty="0"/>
          </a:p>
        </p:txBody>
      </p:sp>
      <p:sp>
        <p:nvSpPr>
          <p:cNvPr id="9" name="Text 7"/>
          <p:cNvSpPr/>
          <p:nvPr/>
        </p:nvSpPr>
        <p:spPr>
          <a:xfrm>
            <a:off x="672084" y="1965960"/>
            <a:ext cx="1325880" cy="411480"/>
          </a:xfrm>
          <a:prstGeom prst="rect">
            <a:avLst/>
          </a:prstGeom>
          <a:noFill/>
          <a:ln/>
        </p:spPr>
        <p:txBody>
          <a:bodyPr wrap="square" lIns="0" tIns="0" rIns="0" bIns="0" rtlCol="0" anchor="ctr"/>
          <a:lstStyle/>
          <a:p>
            <a:pPr algn="ctr" indent="0" marL="0">
              <a:buNone/>
            </a:pPr>
            <a:r>
              <a:rPr lang="en-US" sz="900" dirty="0">
                <a:solidFill>
                  <a:srgbClr val="0F1A2C"/>
                </a:solidFill>
                <a:latin typeface="Calibri" pitchFamily="34" charset="0"/>
                <a:ea typeface="Calibri" pitchFamily="34" charset="-122"/>
                <a:cs typeface="Calibri" pitchFamily="34" charset="-120"/>
              </a:rPr>
              <a:t>writes the ask</a:t>
            </a:r>
            <a:endParaRPr lang="en-US" sz="900" dirty="0"/>
          </a:p>
        </p:txBody>
      </p:sp>
      <p:pic>
        <p:nvPicPr>
          <p:cNvPr id="10" name="Image 0" descr="preencoded.png">    </p:cNvPr>
          <p:cNvPicPr>
            <a:picLocks noChangeAspect="1"/>
          </p:cNvPicPr>
          <p:nvPr/>
        </p:nvPicPr>
        <p:blipFill>
          <a:blip r:embed="rId1"/>
          <a:stretch>
            <a:fillRect/>
          </a:stretch>
        </p:blipFill>
        <p:spPr>
          <a:xfrm>
            <a:off x="2048256" y="1851660"/>
            <a:ext cx="182880" cy="182880"/>
          </a:xfrm>
          <a:prstGeom prst="rect">
            <a:avLst/>
          </a:prstGeom>
        </p:spPr>
      </p:pic>
      <p:sp>
        <p:nvSpPr>
          <p:cNvPr id="11" name="Shape 8"/>
          <p:cNvSpPr/>
          <p:nvPr/>
        </p:nvSpPr>
        <p:spPr>
          <a:xfrm>
            <a:off x="2244852" y="1463040"/>
            <a:ext cx="1417320" cy="960120"/>
          </a:xfrm>
          <a:prstGeom prst="rect">
            <a:avLst/>
          </a:prstGeom>
          <a:solidFill>
            <a:srgbClr val="FFFFFF"/>
          </a:solidFill>
          <a:ln w="25400">
            <a:solidFill>
              <a:srgbClr val="003B70"/>
            </a:solidFill>
            <a:prstDash val="solid"/>
          </a:ln>
        </p:spPr>
      </p:sp>
      <p:sp>
        <p:nvSpPr>
          <p:cNvPr id="12" name="Shape 9"/>
          <p:cNvSpPr/>
          <p:nvPr/>
        </p:nvSpPr>
        <p:spPr>
          <a:xfrm>
            <a:off x="2244852" y="1463040"/>
            <a:ext cx="1417320" cy="91440"/>
          </a:xfrm>
          <a:prstGeom prst="rect">
            <a:avLst/>
          </a:prstGeom>
          <a:solidFill>
            <a:srgbClr val="003B70"/>
          </a:solidFill>
          <a:ln/>
        </p:spPr>
      </p:sp>
      <p:sp>
        <p:nvSpPr>
          <p:cNvPr id="13" name="Text 10"/>
          <p:cNvSpPr/>
          <p:nvPr/>
        </p:nvSpPr>
        <p:spPr>
          <a:xfrm>
            <a:off x="2244852" y="1627632"/>
            <a:ext cx="1417320" cy="292608"/>
          </a:xfrm>
          <a:prstGeom prst="rect">
            <a:avLst/>
          </a:prstGeom>
          <a:noFill/>
          <a:ln/>
        </p:spPr>
        <p:txBody>
          <a:bodyPr wrap="square" lIns="0" tIns="0" rIns="0" bIns="0" rtlCol="0" anchor="ctr"/>
          <a:lstStyle/>
          <a:p>
            <a:pPr algn="ctr" indent="0" marL="0">
              <a:buNone/>
            </a:pPr>
            <a:r>
              <a:rPr lang="en-US" sz="1300" b="1" dirty="0">
                <a:solidFill>
                  <a:srgbClr val="003B70"/>
                </a:solidFill>
                <a:latin typeface="Calibri" pitchFamily="34" charset="0"/>
                <a:ea typeface="Calibri" pitchFamily="34" charset="-122"/>
                <a:cs typeface="Calibri" pitchFamily="34" charset="-120"/>
              </a:rPr>
              <a:t>Copilot</a:t>
            </a:r>
            <a:endParaRPr lang="en-US" sz="1300" dirty="0"/>
          </a:p>
        </p:txBody>
      </p:sp>
      <p:sp>
        <p:nvSpPr>
          <p:cNvPr id="14" name="Text 11"/>
          <p:cNvSpPr/>
          <p:nvPr/>
        </p:nvSpPr>
        <p:spPr>
          <a:xfrm>
            <a:off x="2290572" y="1965960"/>
            <a:ext cx="1325880" cy="411480"/>
          </a:xfrm>
          <a:prstGeom prst="rect">
            <a:avLst/>
          </a:prstGeom>
          <a:noFill/>
          <a:ln/>
        </p:spPr>
        <p:txBody>
          <a:bodyPr wrap="square" lIns="0" tIns="0" rIns="0" bIns="0" rtlCol="0" anchor="ctr"/>
          <a:lstStyle/>
          <a:p>
            <a:pPr algn="ctr" indent="0" marL="0">
              <a:buNone/>
            </a:pPr>
            <a:r>
              <a:rPr lang="en-US" sz="900" dirty="0">
                <a:solidFill>
                  <a:srgbClr val="0F1A2C"/>
                </a:solidFill>
                <a:latin typeface="Calibri" pitchFamily="34" charset="0"/>
                <a:ea typeface="Calibri" pitchFamily="34" charset="-122"/>
                <a:cs typeface="Calibri" pitchFamily="34" charset="-120"/>
              </a:rPr>
              <a:t>drafts the spec</a:t>
            </a:r>
            <a:endParaRPr lang="en-US" sz="900" dirty="0"/>
          </a:p>
        </p:txBody>
      </p:sp>
      <p:pic>
        <p:nvPicPr>
          <p:cNvPr id="15" name="Image 1" descr="preencoded.png">    </p:cNvPr>
          <p:cNvPicPr>
            <a:picLocks noChangeAspect="1"/>
          </p:cNvPicPr>
          <p:nvPr/>
        </p:nvPicPr>
        <p:blipFill>
          <a:blip r:embed="rId2"/>
          <a:stretch>
            <a:fillRect/>
          </a:stretch>
        </p:blipFill>
        <p:spPr>
          <a:xfrm>
            <a:off x="3666744" y="1851660"/>
            <a:ext cx="182880" cy="182880"/>
          </a:xfrm>
          <a:prstGeom prst="rect">
            <a:avLst/>
          </a:prstGeom>
        </p:spPr>
      </p:pic>
      <p:sp>
        <p:nvSpPr>
          <p:cNvPr id="16" name="Shape 12"/>
          <p:cNvSpPr/>
          <p:nvPr/>
        </p:nvSpPr>
        <p:spPr>
          <a:xfrm>
            <a:off x="3863340" y="1463040"/>
            <a:ext cx="1417320" cy="960120"/>
          </a:xfrm>
          <a:prstGeom prst="rect">
            <a:avLst/>
          </a:prstGeom>
          <a:solidFill>
            <a:srgbClr val="FFFFFF"/>
          </a:solidFill>
          <a:ln w="25400">
            <a:solidFill>
              <a:srgbClr val="5B6A82"/>
            </a:solidFill>
            <a:prstDash val="solid"/>
          </a:ln>
        </p:spPr>
      </p:sp>
      <p:sp>
        <p:nvSpPr>
          <p:cNvPr id="17" name="Shape 13"/>
          <p:cNvSpPr/>
          <p:nvPr/>
        </p:nvSpPr>
        <p:spPr>
          <a:xfrm>
            <a:off x="3863340" y="1463040"/>
            <a:ext cx="1417320" cy="91440"/>
          </a:xfrm>
          <a:prstGeom prst="rect">
            <a:avLst/>
          </a:prstGeom>
          <a:solidFill>
            <a:srgbClr val="5B6A82"/>
          </a:solidFill>
          <a:ln/>
        </p:spPr>
      </p:sp>
      <p:sp>
        <p:nvSpPr>
          <p:cNvPr id="18" name="Text 14"/>
          <p:cNvSpPr/>
          <p:nvPr/>
        </p:nvSpPr>
        <p:spPr>
          <a:xfrm>
            <a:off x="3863340" y="1627632"/>
            <a:ext cx="1417320" cy="292608"/>
          </a:xfrm>
          <a:prstGeom prst="rect">
            <a:avLst/>
          </a:prstGeom>
          <a:noFill/>
          <a:ln/>
        </p:spPr>
        <p:txBody>
          <a:bodyPr wrap="square" lIns="0" tIns="0" rIns="0" bIns="0" rtlCol="0" anchor="ctr"/>
          <a:lstStyle/>
          <a:p>
            <a:pPr algn="ctr" indent="0" marL="0">
              <a:buNone/>
            </a:pPr>
            <a:r>
              <a:rPr lang="en-US" sz="1300" b="1" dirty="0">
                <a:solidFill>
                  <a:srgbClr val="5B6A82"/>
                </a:solidFill>
                <a:latin typeface="Calibri" pitchFamily="34" charset="0"/>
                <a:ea typeface="Calibri" pitchFamily="34" charset="-122"/>
                <a:cs typeface="Calibri" pitchFamily="34" charset="-120"/>
              </a:rPr>
              <a:t>Merge</a:t>
            </a:r>
            <a:endParaRPr lang="en-US" sz="1300" dirty="0"/>
          </a:p>
        </p:txBody>
      </p:sp>
      <p:sp>
        <p:nvSpPr>
          <p:cNvPr id="19" name="Text 15"/>
          <p:cNvSpPr/>
          <p:nvPr/>
        </p:nvSpPr>
        <p:spPr>
          <a:xfrm>
            <a:off x="3909060" y="1965960"/>
            <a:ext cx="1325880" cy="411480"/>
          </a:xfrm>
          <a:prstGeom prst="rect">
            <a:avLst/>
          </a:prstGeom>
          <a:noFill/>
          <a:ln/>
        </p:spPr>
        <p:txBody>
          <a:bodyPr wrap="square" lIns="0" tIns="0" rIns="0" bIns="0" rtlCol="0" anchor="ctr"/>
          <a:lstStyle/>
          <a:p>
            <a:pPr algn="ctr" indent="0" marL="0">
              <a:buNone/>
            </a:pPr>
            <a:r>
              <a:rPr lang="en-US" sz="900" dirty="0">
                <a:solidFill>
                  <a:srgbClr val="0F1A2C"/>
                </a:solidFill>
                <a:latin typeface="Calibri" pitchFamily="34" charset="0"/>
                <a:ea typeface="Calibri" pitchFamily="34" charset="-122"/>
                <a:cs typeface="Calibri" pitchFamily="34" charset="-120"/>
              </a:rPr>
              <a:t>spec reviewed</a:t>
            </a:r>
            <a:endParaRPr lang="en-US" sz="900" dirty="0"/>
          </a:p>
        </p:txBody>
      </p:sp>
      <p:pic>
        <p:nvPicPr>
          <p:cNvPr id="20" name="Image 2" descr="preencoded.png">    </p:cNvPr>
          <p:cNvPicPr>
            <a:picLocks noChangeAspect="1"/>
          </p:cNvPicPr>
          <p:nvPr/>
        </p:nvPicPr>
        <p:blipFill>
          <a:blip r:embed="rId3"/>
          <a:stretch>
            <a:fillRect/>
          </a:stretch>
        </p:blipFill>
        <p:spPr>
          <a:xfrm>
            <a:off x="5285232" y="1851660"/>
            <a:ext cx="182880" cy="182880"/>
          </a:xfrm>
          <a:prstGeom prst="rect">
            <a:avLst/>
          </a:prstGeom>
        </p:spPr>
      </p:pic>
      <p:sp>
        <p:nvSpPr>
          <p:cNvPr id="21" name="Shape 16"/>
          <p:cNvSpPr/>
          <p:nvPr/>
        </p:nvSpPr>
        <p:spPr>
          <a:xfrm>
            <a:off x="5481828" y="1463040"/>
            <a:ext cx="1417320" cy="960120"/>
          </a:xfrm>
          <a:prstGeom prst="rect">
            <a:avLst/>
          </a:prstGeom>
          <a:solidFill>
            <a:srgbClr val="FFFFFF"/>
          </a:solidFill>
          <a:ln w="25400">
            <a:solidFill>
              <a:srgbClr val="D9261C"/>
            </a:solidFill>
            <a:prstDash val="solid"/>
          </a:ln>
        </p:spPr>
      </p:sp>
      <p:sp>
        <p:nvSpPr>
          <p:cNvPr id="22" name="Shape 17"/>
          <p:cNvSpPr/>
          <p:nvPr/>
        </p:nvSpPr>
        <p:spPr>
          <a:xfrm>
            <a:off x="5481828" y="1463040"/>
            <a:ext cx="1417320" cy="91440"/>
          </a:xfrm>
          <a:prstGeom prst="rect">
            <a:avLst/>
          </a:prstGeom>
          <a:solidFill>
            <a:srgbClr val="D9261C"/>
          </a:solidFill>
          <a:ln/>
        </p:spPr>
      </p:sp>
      <p:sp>
        <p:nvSpPr>
          <p:cNvPr id="23" name="Text 18"/>
          <p:cNvSpPr/>
          <p:nvPr/>
        </p:nvSpPr>
        <p:spPr>
          <a:xfrm>
            <a:off x="5481828" y="1627632"/>
            <a:ext cx="1417320" cy="292608"/>
          </a:xfrm>
          <a:prstGeom prst="rect">
            <a:avLst/>
          </a:prstGeom>
          <a:noFill/>
          <a:ln/>
        </p:spPr>
        <p:txBody>
          <a:bodyPr wrap="square" lIns="0" tIns="0" rIns="0" bIns="0" rtlCol="0" anchor="ctr"/>
          <a:lstStyle/>
          <a:p>
            <a:pPr algn="ctr" indent="0" marL="0">
              <a:buNone/>
            </a:pPr>
            <a:r>
              <a:rPr lang="en-US" sz="1300" b="1" dirty="0">
                <a:solidFill>
                  <a:srgbClr val="D9261C"/>
                </a:solidFill>
                <a:latin typeface="Calibri" pitchFamily="34" charset="0"/>
                <a:ea typeface="Calibri" pitchFamily="34" charset="-122"/>
                <a:cs typeface="Calibri" pitchFamily="34" charset="-120"/>
              </a:rPr>
              <a:t>Devin</a:t>
            </a:r>
            <a:endParaRPr lang="en-US" sz="1300" dirty="0"/>
          </a:p>
        </p:txBody>
      </p:sp>
      <p:sp>
        <p:nvSpPr>
          <p:cNvPr id="24" name="Text 19"/>
          <p:cNvSpPr/>
          <p:nvPr/>
        </p:nvSpPr>
        <p:spPr>
          <a:xfrm>
            <a:off x="5527548" y="1965960"/>
            <a:ext cx="1325880" cy="411480"/>
          </a:xfrm>
          <a:prstGeom prst="rect">
            <a:avLst/>
          </a:prstGeom>
          <a:noFill/>
          <a:ln/>
        </p:spPr>
        <p:txBody>
          <a:bodyPr wrap="square" lIns="0" tIns="0" rIns="0" bIns="0" rtlCol="0" anchor="ctr"/>
          <a:lstStyle/>
          <a:p>
            <a:pPr algn="ctr" indent="0" marL="0">
              <a:buNone/>
            </a:pPr>
            <a:r>
              <a:rPr lang="en-US" sz="900" dirty="0">
                <a:solidFill>
                  <a:srgbClr val="0F1A2C"/>
                </a:solidFill>
                <a:latin typeface="Calibri" pitchFamily="34" charset="0"/>
                <a:ea typeface="Calibri" pitchFamily="34" charset="-122"/>
                <a:cs typeface="Calibri" pitchFamily="34" charset="-120"/>
              </a:rPr>
              <a:t>executes async</a:t>
            </a:r>
            <a:endParaRPr lang="en-US" sz="900" dirty="0"/>
          </a:p>
          <a:p>
            <a:pPr algn="ctr" indent="0" marL="0">
              <a:buNone/>
            </a:pPr>
            <a:r>
              <a:rPr lang="en-US" sz="900" dirty="0">
                <a:solidFill>
                  <a:srgbClr val="0F1A2C"/>
                </a:solidFill>
                <a:latin typeface="Calibri" pitchFamily="34" charset="0"/>
                <a:ea typeface="Calibri" pitchFamily="34" charset="-122"/>
                <a:cs typeface="Calibri" pitchFamily="34" charset="-120"/>
              </a:rPr>
              <a:t>opens a PR</a:t>
            </a:r>
            <a:endParaRPr lang="en-US" sz="900" dirty="0"/>
          </a:p>
        </p:txBody>
      </p:sp>
      <p:pic>
        <p:nvPicPr>
          <p:cNvPr id="25" name="Image 3" descr="preencoded.png">    </p:cNvPr>
          <p:cNvPicPr>
            <a:picLocks noChangeAspect="1"/>
          </p:cNvPicPr>
          <p:nvPr/>
        </p:nvPicPr>
        <p:blipFill>
          <a:blip r:embed="rId4"/>
          <a:stretch>
            <a:fillRect/>
          </a:stretch>
        </p:blipFill>
        <p:spPr>
          <a:xfrm>
            <a:off x="6903720" y="1851660"/>
            <a:ext cx="182880" cy="182880"/>
          </a:xfrm>
          <a:prstGeom prst="rect">
            <a:avLst/>
          </a:prstGeom>
        </p:spPr>
      </p:pic>
      <p:sp>
        <p:nvSpPr>
          <p:cNvPr id="26" name="Shape 20"/>
          <p:cNvSpPr/>
          <p:nvPr/>
        </p:nvSpPr>
        <p:spPr>
          <a:xfrm>
            <a:off x="7100316" y="1463040"/>
            <a:ext cx="1417320" cy="960120"/>
          </a:xfrm>
          <a:prstGeom prst="rect">
            <a:avLst/>
          </a:prstGeom>
          <a:solidFill>
            <a:srgbClr val="FFFFFF"/>
          </a:solidFill>
          <a:ln w="25400">
            <a:solidFill>
              <a:srgbClr val="5B6A82"/>
            </a:solidFill>
            <a:prstDash val="solid"/>
          </a:ln>
        </p:spPr>
      </p:sp>
      <p:sp>
        <p:nvSpPr>
          <p:cNvPr id="27" name="Shape 21"/>
          <p:cNvSpPr/>
          <p:nvPr/>
        </p:nvSpPr>
        <p:spPr>
          <a:xfrm>
            <a:off x="7100316" y="1463040"/>
            <a:ext cx="1417320" cy="91440"/>
          </a:xfrm>
          <a:prstGeom prst="rect">
            <a:avLst/>
          </a:prstGeom>
          <a:solidFill>
            <a:srgbClr val="5B6A82"/>
          </a:solidFill>
          <a:ln/>
        </p:spPr>
      </p:sp>
      <p:sp>
        <p:nvSpPr>
          <p:cNvPr id="28" name="Text 22"/>
          <p:cNvSpPr/>
          <p:nvPr/>
        </p:nvSpPr>
        <p:spPr>
          <a:xfrm>
            <a:off x="7100316" y="1627632"/>
            <a:ext cx="1417320" cy="292608"/>
          </a:xfrm>
          <a:prstGeom prst="rect">
            <a:avLst/>
          </a:prstGeom>
          <a:noFill/>
          <a:ln/>
        </p:spPr>
        <p:txBody>
          <a:bodyPr wrap="square" lIns="0" tIns="0" rIns="0" bIns="0" rtlCol="0" anchor="ctr"/>
          <a:lstStyle/>
          <a:p>
            <a:pPr algn="ctr" indent="0" marL="0">
              <a:buNone/>
            </a:pPr>
            <a:r>
              <a:rPr lang="en-US" sz="1300" b="1" dirty="0">
                <a:solidFill>
                  <a:srgbClr val="5B6A82"/>
                </a:solidFill>
                <a:latin typeface="Calibri" pitchFamily="34" charset="0"/>
                <a:ea typeface="Calibri" pitchFamily="34" charset="-122"/>
                <a:cs typeface="Calibri" pitchFamily="34" charset="-120"/>
              </a:rPr>
              <a:t>Review</a:t>
            </a:r>
            <a:endParaRPr lang="en-US" sz="1300" dirty="0"/>
          </a:p>
        </p:txBody>
      </p:sp>
      <p:sp>
        <p:nvSpPr>
          <p:cNvPr id="29" name="Text 23"/>
          <p:cNvSpPr/>
          <p:nvPr/>
        </p:nvSpPr>
        <p:spPr>
          <a:xfrm>
            <a:off x="7146036" y="1965960"/>
            <a:ext cx="1325880" cy="411480"/>
          </a:xfrm>
          <a:prstGeom prst="rect">
            <a:avLst/>
          </a:prstGeom>
          <a:noFill/>
          <a:ln/>
        </p:spPr>
        <p:txBody>
          <a:bodyPr wrap="square" lIns="0" tIns="0" rIns="0" bIns="0" rtlCol="0" anchor="ctr"/>
          <a:lstStyle/>
          <a:p>
            <a:pPr algn="ctr" indent="0" marL="0">
              <a:buNone/>
            </a:pPr>
            <a:r>
              <a:rPr lang="en-US" sz="900" dirty="0">
                <a:solidFill>
                  <a:srgbClr val="0F1A2C"/>
                </a:solidFill>
                <a:latin typeface="Calibri" pitchFamily="34" charset="0"/>
                <a:ea typeface="Calibri" pitchFamily="34" charset="-122"/>
                <a:cs typeface="Calibri" pitchFamily="34" charset="-120"/>
              </a:rPr>
              <a:t>ship it</a:t>
            </a:r>
            <a:endParaRPr lang="en-US" sz="900" dirty="0"/>
          </a:p>
        </p:txBody>
      </p:sp>
      <p:sp>
        <p:nvSpPr>
          <p:cNvPr id="30" name="Text 24"/>
          <p:cNvSpPr/>
          <p:nvPr/>
        </p:nvSpPr>
        <p:spPr>
          <a:xfrm>
            <a:off x="457200" y="2862072"/>
            <a:ext cx="8229600" cy="228600"/>
          </a:xfrm>
          <a:prstGeom prst="rect">
            <a:avLst/>
          </a:prstGeom>
          <a:noFill/>
          <a:ln/>
        </p:spPr>
        <p:txBody>
          <a:bodyPr wrap="square" lIns="0" tIns="0" rIns="0" bIns="0" rtlCol="0" anchor="ctr"/>
          <a:lstStyle/>
          <a:p>
            <a:pPr indent="0" marL="0">
              <a:buNone/>
            </a:pPr>
            <a:r>
              <a:rPr lang="en-US" sz="1000" b="1" spc="300" kern="0" dirty="0">
                <a:solidFill>
                  <a:srgbClr val="D9261C"/>
                </a:solidFill>
                <a:latin typeface="Calibri" pitchFamily="34" charset="0"/>
                <a:ea typeface="Calibri" pitchFamily="34" charset="-122"/>
                <a:cs typeface="Calibri" pitchFamily="34" charset="-120"/>
              </a:rPr>
              <a:t>RESEARCH-DRIVEN  ·  CROSS-REPO OR CROSS-SERVICE WORK</a:t>
            </a:r>
            <a:endParaRPr lang="en-US" sz="1000" dirty="0"/>
          </a:p>
        </p:txBody>
      </p:sp>
      <p:sp>
        <p:nvSpPr>
          <p:cNvPr id="31" name="Shape 25"/>
          <p:cNvSpPr/>
          <p:nvPr/>
        </p:nvSpPr>
        <p:spPr>
          <a:xfrm>
            <a:off x="626364" y="3154680"/>
            <a:ext cx="1417320" cy="960120"/>
          </a:xfrm>
          <a:prstGeom prst="rect">
            <a:avLst/>
          </a:prstGeom>
          <a:solidFill>
            <a:srgbClr val="FFFFFF"/>
          </a:solidFill>
          <a:ln w="25400">
            <a:solidFill>
              <a:srgbClr val="5B6A82"/>
            </a:solidFill>
            <a:prstDash val="solid"/>
          </a:ln>
        </p:spPr>
      </p:sp>
      <p:sp>
        <p:nvSpPr>
          <p:cNvPr id="32" name="Shape 26"/>
          <p:cNvSpPr/>
          <p:nvPr/>
        </p:nvSpPr>
        <p:spPr>
          <a:xfrm>
            <a:off x="626364" y="3154680"/>
            <a:ext cx="1417320" cy="91440"/>
          </a:xfrm>
          <a:prstGeom prst="rect">
            <a:avLst/>
          </a:prstGeom>
          <a:solidFill>
            <a:srgbClr val="5B6A82"/>
          </a:solidFill>
          <a:ln/>
        </p:spPr>
      </p:sp>
      <p:sp>
        <p:nvSpPr>
          <p:cNvPr id="33" name="Text 27"/>
          <p:cNvSpPr/>
          <p:nvPr/>
        </p:nvSpPr>
        <p:spPr>
          <a:xfrm>
            <a:off x="626364" y="3319272"/>
            <a:ext cx="1417320" cy="292608"/>
          </a:xfrm>
          <a:prstGeom prst="rect">
            <a:avLst/>
          </a:prstGeom>
          <a:noFill/>
          <a:ln/>
        </p:spPr>
        <p:txBody>
          <a:bodyPr wrap="square" lIns="0" tIns="0" rIns="0" bIns="0" rtlCol="0" anchor="ctr"/>
          <a:lstStyle/>
          <a:p>
            <a:pPr algn="ctr" indent="0" marL="0">
              <a:buNone/>
            </a:pPr>
            <a:r>
              <a:rPr lang="en-US" sz="1300" b="1" dirty="0">
                <a:solidFill>
                  <a:srgbClr val="5B6A82"/>
                </a:solidFill>
                <a:latin typeface="Calibri" pitchFamily="34" charset="0"/>
                <a:ea typeface="Calibri" pitchFamily="34" charset="-122"/>
                <a:cs typeface="Calibri" pitchFamily="34" charset="-120"/>
              </a:rPr>
              <a:t>Question</a:t>
            </a:r>
            <a:endParaRPr lang="en-US" sz="1300" dirty="0"/>
          </a:p>
        </p:txBody>
      </p:sp>
      <p:sp>
        <p:nvSpPr>
          <p:cNvPr id="34" name="Text 28"/>
          <p:cNvSpPr/>
          <p:nvPr/>
        </p:nvSpPr>
        <p:spPr>
          <a:xfrm>
            <a:off x="672084" y="3657600"/>
            <a:ext cx="1325880" cy="411480"/>
          </a:xfrm>
          <a:prstGeom prst="rect">
            <a:avLst/>
          </a:prstGeom>
          <a:noFill/>
          <a:ln/>
        </p:spPr>
        <p:txBody>
          <a:bodyPr wrap="square" lIns="0" tIns="0" rIns="0" bIns="0" rtlCol="0" anchor="ctr"/>
          <a:lstStyle/>
          <a:p>
            <a:pPr algn="ctr" indent="0" marL="0">
              <a:buNone/>
            </a:pPr>
            <a:r>
              <a:rPr lang="en-US" sz="900" dirty="0">
                <a:solidFill>
                  <a:srgbClr val="0F1A2C"/>
                </a:solidFill>
                <a:latin typeface="Calibri" pitchFamily="34" charset="0"/>
                <a:ea typeface="Calibri" pitchFamily="34" charset="-122"/>
                <a:cs typeface="Calibri" pitchFamily="34" charset="-120"/>
              </a:rPr>
              <a:t>what / how / where?</a:t>
            </a:r>
            <a:endParaRPr lang="en-US" sz="900" dirty="0"/>
          </a:p>
        </p:txBody>
      </p:sp>
      <p:pic>
        <p:nvPicPr>
          <p:cNvPr id="35" name="Image 4" descr="preencoded.png">    </p:cNvPr>
          <p:cNvPicPr>
            <a:picLocks noChangeAspect="1"/>
          </p:cNvPicPr>
          <p:nvPr/>
        </p:nvPicPr>
        <p:blipFill>
          <a:blip r:embed="rId5"/>
          <a:stretch>
            <a:fillRect/>
          </a:stretch>
        </p:blipFill>
        <p:spPr>
          <a:xfrm>
            <a:off x="2048256" y="3543300"/>
            <a:ext cx="182880" cy="182880"/>
          </a:xfrm>
          <a:prstGeom prst="rect">
            <a:avLst/>
          </a:prstGeom>
        </p:spPr>
      </p:pic>
      <p:sp>
        <p:nvSpPr>
          <p:cNvPr id="36" name="Shape 29"/>
          <p:cNvSpPr/>
          <p:nvPr/>
        </p:nvSpPr>
        <p:spPr>
          <a:xfrm>
            <a:off x="2244852" y="3154680"/>
            <a:ext cx="1417320" cy="960120"/>
          </a:xfrm>
          <a:prstGeom prst="rect">
            <a:avLst/>
          </a:prstGeom>
          <a:solidFill>
            <a:srgbClr val="FFFFFF"/>
          </a:solidFill>
          <a:ln w="25400">
            <a:solidFill>
              <a:srgbClr val="D9261C"/>
            </a:solidFill>
            <a:prstDash val="solid"/>
          </a:ln>
        </p:spPr>
      </p:sp>
      <p:sp>
        <p:nvSpPr>
          <p:cNvPr id="37" name="Shape 30"/>
          <p:cNvSpPr/>
          <p:nvPr/>
        </p:nvSpPr>
        <p:spPr>
          <a:xfrm>
            <a:off x="2244852" y="3154680"/>
            <a:ext cx="1417320" cy="91440"/>
          </a:xfrm>
          <a:prstGeom prst="rect">
            <a:avLst/>
          </a:prstGeom>
          <a:solidFill>
            <a:srgbClr val="D9261C"/>
          </a:solidFill>
          <a:ln/>
        </p:spPr>
      </p:sp>
      <p:sp>
        <p:nvSpPr>
          <p:cNvPr id="38" name="Text 31"/>
          <p:cNvSpPr/>
          <p:nvPr/>
        </p:nvSpPr>
        <p:spPr>
          <a:xfrm>
            <a:off x="2244852" y="3319272"/>
            <a:ext cx="1417320" cy="292608"/>
          </a:xfrm>
          <a:prstGeom prst="rect">
            <a:avLst/>
          </a:prstGeom>
          <a:noFill/>
          <a:ln/>
        </p:spPr>
        <p:txBody>
          <a:bodyPr wrap="square" lIns="0" tIns="0" rIns="0" bIns="0" rtlCol="0" anchor="ctr"/>
          <a:lstStyle/>
          <a:p>
            <a:pPr algn="ctr" indent="0" marL="0">
              <a:buNone/>
            </a:pPr>
            <a:r>
              <a:rPr lang="en-US" sz="1300" b="1" dirty="0">
                <a:solidFill>
                  <a:srgbClr val="D9261C"/>
                </a:solidFill>
                <a:latin typeface="Calibri" pitchFamily="34" charset="0"/>
                <a:ea typeface="Calibri" pitchFamily="34" charset="-122"/>
                <a:cs typeface="Calibri" pitchFamily="34" charset="-120"/>
              </a:rPr>
              <a:t>Devin</a:t>
            </a:r>
            <a:endParaRPr lang="en-US" sz="1300" dirty="0"/>
          </a:p>
        </p:txBody>
      </p:sp>
      <p:sp>
        <p:nvSpPr>
          <p:cNvPr id="39" name="Text 32"/>
          <p:cNvSpPr/>
          <p:nvPr/>
        </p:nvSpPr>
        <p:spPr>
          <a:xfrm>
            <a:off x="2290572" y="3657600"/>
            <a:ext cx="1325880" cy="411480"/>
          </a:xfrm>
          <a:prstGeom prst="rect">
            <a:avLst/>
          </a:prstGeom>
          <a:noFill/>
          <a:ln/>
        </p:spPr>
        <p:txBody>
          <a:bodyPr wrap="square" lIns="0" tIns="0" rIns="0" bIns="0" rtlCol="0" anchor="ctr"/>
          <a:lstStyle/>
          <a:p>
            <a:pPr algn="ctr" indent="0" marL="0">
              <a:buNone/>
            </a:pPr>
            <a:r>
              <a:rPr lang="en-US" sz="900" dirty="0">
                <a:solidFill>
                  <a:srgbClr val="0F1A2C"/>
                </a:solidFill>
                <a:latin typeface="Calibri" pitchFamily="34" charset="0"/>
                <a:ea typeface="Calibri" pitchFamily="34" charset="-122"/>
                <a:cs typeface="Calibri" pitchFamily="34" charset="-120"/>
              </a:rPr>
              <a:t>researches via</a:t>
            </a:r>
            <a:endParaRPr lang="en-US" sz="900" dirty="0"/>
          </a:p>
          <a:p>
            <a:pPr algn="ctr" indent="0" marL="0">
              <a:buNone/>
            </a:pPr>
            <a:r>
              <a:rPr lang="en-US" sz="900" dirty="0">
                <a:solidFill>
                  <a:srgbClr val="0F1A2C"/>
                </a:solidFill>
                <a:latin typeface="Calibri" pitchFamily="34" charset="0"/>
                <a:ea typeface="Calibri" pitchFamily="34" charset="-122"/>
                <a:cs typeface="Calibri" pitchFamily="34" charset="-120"/>
              </a:rPr>
              <a:t>DeepWiki, multi-repo</a:t>
            </a:r>
            <a:endParaRPr lang="en-US" sz="900" dirty="0"/>
          </a:p>
        </p:txBody>
      </p:sp>
      <p:pic>
        <p:nvPicPr>
          <p:cNvPr id="40" name="Image 5" descr="preencoded.png">    </p:cNvPr>
          <p:cNvPicPr>
            <a:picLocks noChangeAspect="1"/>
          </p:cNvPicPr>
          <p:nvPr/>
        </p:nvPicPr>
        <p:blipFill>
          <a:blip r:embed="rId6"/>
          <a:stretch>
            <a:fillRect/>
          </a:stretch>
        </p:blipFill>
        <p:spPr>
          <a:xfrm>
            <a:off x="3666744" y="3543300"/>
            <a:ext cx="182880" cy="182880"/>
          </a:xfrm>
          <a:prstGeom prst="rect">
            <a:avLst/>
          </a:prstGeom>
        </p:spPr>
      </p:pic>
      <p:sp>
        <p:nvSpPr>
          <p:cNvPr id="41" name="Shape 33"/>
          <p:cNvSpPr/>
          <p:nvPr/>
        </p:nvSpPr>
        <p:spPr>
          <a:xfrm>
            <a:off x="3863340" y="3154680"/>
            <a:ext cx="1417320" cy="960120"/>
          </a:xfrm>
          <a:prstGeom prst="rect">
            <a:avLst/>
          </a:prstGeom>
          <a:solidFill>
            <a:srgbClr val="FFFFFF"/>
          </a:solidFill>
          <a:ln w="25400">
            <a:solidFill>
              <a:srgbClr val="5B6A82"/>
            </a:solidFill>
            <a:prstDash val="solid"/>
          </a:ln>
        </p:spPr>
      </p:sp>
      <p:sp>
        <p:nvSpPr>
          <p:cNvPr id="42" name="Shape 34"/>
          <p:cNvSpPr/>
          <p:nvPr/>
        </p:nvSpPr>
        <p:spPr>
          <a:xfrm>
            <a:off x="3863340" y="3154680"/>
            <a:ext cx="1417320" cy="91440"/>
          </a:xfrm>
          <a:prstGeom prst="rect">
            <a:avLst/>
          </a:prstGeom>
          <a:solidFill>
            <a:srgbClr val="5B6A82"/>
          </a:solidFill>
          <a:ln/>
        </p:spPr>
      </p:sp>
      <p:sp>
        <p:nvSpPr>
          <p:cNvPr id="43" name="Text 35"/>
          <p:cNvSpPr/>
          <p:nvPr/>
        </p:nvSpPr>
        <p:spPr>
          <a:xfrm>
            <a:off x="3863340" y="3319272"/>
            <a:ext cx="1417320" cy="292608"/>
          </a:xfrm>
          <a:prstGeom prst="rect">
            <a:avLst/>
          </a:prstGeom>
          <a:noFill/>
          <a:ln/>
        </p:spPr>
        <p:txBody>
          <a:bodyPr wrap="square" lIns="0" tIns="0" rIns="0" bIns="0" rtlCol="0" anchor="ctr"/>
          <a:lstStyle/>
          <a:p>
            <a:pPr algn="ctr" indent="0" marL="0">
              <a:buNone/>
            </a:pPr>
            <a:r>
              <a:rPr lang="en-US" sz="1300" b="1" dirty="0">
                <a:solidFill>
                  <a:srgbClr val="5B6A82"/>
                </a:solidFill>
                <a:latin typeface="Calibri" pitchFamily="34" charset="0"/>
                <a:ea typeface="Calibri" pitchFamily="34" charset="-122"/>
                <a:cs typeface="Calibri" pitchFamily="34" charset="-120"/>
              </a:rPr>
              <a:t>Developer</a:t>
            </a:r>
            <a:endParaRPr lang="en-US" sz="1300" dirty="0"/>
          </a:p>
        </p:txBody>
      </p:sp>
      <p:sp>
        <p:nvSpPr>
          <p:cNvPr id="44" name="Text 36"/>
          <p:cNvSpPr/>
          <p:nvPr/>
        </p:nvSpPr>
        <p:spPr>
          <a:xfrm>
            <a:off x="3909060" y="3657600"/>
            <a:ext cx="1325880" cy="411480"/>
          </a:xfrm>
          <a:prstGeom prst="rect">
            <a:avLst/>
          </a:prstGeom>
          <a:noFill/>
          <a:ln/>
        </p:spPr>
        <p:txBody>
          <a:bodyPr wrap="square" lIns="0" tIns="0" rIns="0" bIns="0" rtlCol="0" anchor="ctr"/>
          <a:lstStyle/>
          <a:p>
            <a:pPr algn="ctr" indent="0" marL="0">
              <a:buNone/>
            </a:pPr>
            <a:r>
              <a:rPr lang="en-US" sz="900" dirty="0">
                <a:solidFill>
                  <a:srgbClr val="0F1A2C"/>
                </a:solidFill>
                <a:latin typeface="Calibri" pitchFamily="34" charset="0"/>
                <a:ea typeface="Calibri" pitchFamily="34" charset="-122"/>
                <a:cs typeface="Calibri" pitchFamily="34" charset="-120"/>
              </a:rPr>
              <a:t>reads, frames</a:t>
            </a:r>
            <a:endParaRPr lang="en-US" sz="900" dirty="0"/>
          </a:p>
          <a:p>
            <a:pPr algn="ctr" indent="0" marL="0">
              <a:buNone/>
            </a:pPr>
            <a:r>
              <a:rPr lang="en-US" sz="900" dirty="0">
                <a:solidFill>
                  <a:srgbClr val="0F1A2C"/>
                </a:solidFill>
                <a:latin typeface="Calibri" pitchFamily="34" charset="0"/>
                <a:ea typeface="Calibri" pitchFamily="34" charset="-122"/>
                <a:cs typeface="Calibri" pitchFamily="34" charset="-120"/>
              </a:rPr>
              <a:t>the next step</a:t>
            </a:r>
            <a:endParaRPr lang="en-US" sz="900" dirty="0"/>
          </a:p>
        </p:txBody>
      </p:sp>
      <p:pic>
        <p:nvPicPr>
          <p:cNvPr id="45" name="Image 6" descr="preencoded.png">    </p:cNvPr>
          <p:cNvPicPr>
            <a:picLocks noChangeAspect="1"/>
          </p:cNvPicPr>
          <p:nvPr/>
        </p:nvPicPr>
        <p:blipFill>
          <a:blip r:embed="rId7"/>
          <a:stretch>
            <a:fillRect/>
          </a:stretch>
        </p:blipFill>
        <p:spPr>
          <a:xfrm>
            <a:off x="5285232" y="3543300"/>
            <a:ext cx="182880" cy="182880"/>
          </a:xfrm>
          <a:prstGeom prst="rect">
            <a:avLst/>
          </a:prstGeom>
        </p:spPr>
      </p:pic>
      <p:sp>
        <p:nvSpPr>
          <p:cNvPr id="46" name="Shape 37"/>
          <p:cNvSpPr/>
          <p:nvPr/>
        </p:nvSpPr>
        <p:spPr>
          <a:xfrm>
            <a:off x="5481828" y="3154680"/>
            <a:ext cx="1417320" cy="960120"/>
          </a:xfrm>
          <a:prstGeom prst="rect">
            <a:avLst/>
          </a:prstGeom>
          <a:solidFill>
            <a:srgbClr val="FFFFFF"/>
          </a:solidFill>
          <a:ln w="25400">
            <a:solidFill>
              <a:srgbClr val="003B70"/>
            </a:solidFill>
            <a:prstDash val="solid"/>
          </a:ln>
        </p:spPr>
      </p:sp>
      <p:sp>
        <p:nvSpPr>
          <p:cNvPr id="47" name="Shape 38"/>
          <p:cNvSpPr/>
          <p:nvPr/>
        </p:nvSpPr>
        <p:spPr>
          <a:xfrm>
            <a:off x="5481828" y="3154680"/>
            <a:ext cx="1417320" cy="91440"/>
          </a:xfrm>
          <a:prstGeom prst="rect">
            <a:avLst/>
          </a:prstGeom>
          <a:solidFill>
            <a:srgbClr val="003B70"/>
          </a:solidFill>
          <a:ln/>
        </p:spPr>
      </p:sp>
      <p:sp>
        <p:nvSpPr>
          <p:cNvPr id="48" name="Text 39"/>
          <p:cNvSpPr/>
          <p:nvPr/>
        </p:nvSpPr>
        <p:spPr>
          <a:xfrm>
            <a:off x="5481828" y="3319272"/>
            <a:ext cx="1417320" cy="292608"/>
          </a:xfrm>
          <a:prstGeom prst="rect">
            <a:avLst/>
          </a:prstGeom>
          <a:noFill/>
          <a:ln/>
        </p:spPr>
        <p:txBody>
          <a:bodyPr wrap="square" lIns="0" tIns="0" rIns="0" bIns="0" rtlCol="0" anchor="ctr"/>
          <a:lstStyle/>
          <a:p>
            <a:pPr algn="ctr" indent="0" marL="0">
              <a:buNone/>
            </a:pPr>
            <a:r>
              <a:rPr lang="en-US" sz="1300" b="1" dirty="0">
                <a:solidFill>
                  <a:srgbClr val="003B70"/>
                </a:solidFill>
                <a:latin typeface="Calibri" pitchFamily="34" charset="0"/>
                <a:ea typeface="Calibri" pitchFamily="34" charset="-122"/>
                <a:cs typeface="Calibri" pitchFamily="34" charset="-120"/>
              </a:rPr>
              <a:t>Copilot</a:t>
            </a:r>
            <a:endParaRPr lang="en-US" sz="1300" dirty="0"/>
          </a:p>
        </p:txBody>
      </p:sp>
      <p:sp>
        <p:nvSpPr>
          <p:cNvPr id="49" name="Text 40"/>
          <p:cNvSpPr/>
          <p:nvPr/>
        </p:nvSpPr>
        <p:spPr>
          <a:xfrm>
            <a:off x="5527548" y="3657600"/>
            <a:ext cx="1325880" cy="411480"/>
          </a:xfrm>
          <a:prstGeom prst="rect">
            <a:avLst/>
          </a:prstGeom>
          <a:noFill/>
          <a:ln/>
        </p:spPr>
        <p:txBody>
          <a:bodyPr wrap="square" lIns="0" tIns="0" rIns="0" bIns="0" rtlCol="0" anchor="ctr"/>
          <a:lstStyle/>
          <a:p>
            <a:pPr algn="ctr" indent="0" marL="0">
              <a:buNone/>
            </a:pPr>
            <a:r>
              <a:rPr lang="en-US" sz="900" dirty="0">
                <a:solidFill>
                  <a:srgbClr val="0F1A2C"/>
                </a:solidFill>
                <a:latin typeface="Calibri" pitchFamily="34" charset="0"/>
                <a:ea typeface="Calibri" pitchFamily="34" charset="-122"/>
                <a:cs typeface="Calibri" pitchFamily="34" charset="-120"/>
              </a:rPr>
              <a:t>executes in</a:t>
            </a:r>
            <a:endParaRPr lang="en-US" sz="900" dirty="0"/>
          </a:p>
          <a:p>
            <a:pPr algn="ctr" indent="0" marL="0">
              <a:buNone/>
            </a:pPr>
            <a:r>
              <a:rPr lang="en-US" sz="900" dirty="0">
                <a:solidFill>
                  <a:srgbClr val="0F1A2C"/>
                </a:solidFill>
                <a:latin typeface="Calibri" pitchFamily="34" charset="0"/>
                <a:ea typeface="Calibri" pitchFamily="34" charset="-122"/>
                <a:cs typeface="Calibri" pitchFamily="34" charset="-120"/>
              </a:rPr>
              <a:t>the editor</a:t>
            </a:r>
            <a:endParaRPr lang="en-US" sz="900" dirty="0"/>
          </a:p>
        </p:txBody>
      </p:sp>
      <p:pic>
        <p:nvPicPr>
          <p:cNvPr id="50" name="Image 7" descr="preencoded.png">    </p:cNvPr>
          <p:cNvPicPr>
            <a:picLocks noChangeAspect="1"/>
          </p:cNvPicPr>
          <p:nvPr/>
        </p:nvPicPr>
        <p:blipFill>
          <a:blip r:embed="rId8"/>
          <a:stretch>
            <a:fillRect/>
          </a:stretch>
        </p:blipFill>
        <p:spPr>
          <a:xfrm>
            <a:off x="6903720" y="3543300"/>
            <a:ext cx="182880" cy="182880"/>
          </a:xfrm>
          <a:prstGeom prst="rect">
            <a:avLst/>
          </a:prstGeom>
        </p:spPr>
      </p:pic>
      <p:sp>
        <p:nvSpPr>
          <p:cNvPr id="51" name="Shape 41"/>
          <p:cNvSpPr/>
          <p:nvPr/>
        </p:nvSpPr>
        <p:spPr>
          <a:xfrm>
            <a:off x="7100316" y="3154680"/>
            <a:ext cx="1417320" cy="960120"/>
          </a:xfrm>
          <a:prstGeom prst="rect">
            <a:avLst/>
          </a:prstGeom>
          <a:solidFill>
            <a:srgbClr val="FFFFFF"/>
          </a:solidFill>
          <a:ln w="25400">
            <a:solidFill>
              <a:srgbClr val="5B6A82"/>
            </a:solidFill>
            <a:prstDash val="solid"/>
          </a:ln>
        </p:spPr>
      </p:sp>
      <p:sp>
        <p:nvSpPr>
          <p:cNvPr id="52" name="Shape 42"/>
          <p:cNvSpPr/>
          <p:nvPr/>
        </p:nvSpPr>
        <p:spPr>
          <a:xfrm>
            <a:off x="7100316" y="3154680"/>
            <a:ext cx="1417320" cy="91440"/>
          </a:xfrm>
          <a:prstGeom prst="rect">
            <a:avLst/>
          </a:prstGeom>
          <a:solidFill>
            <a:srgbClr val="5B6A82"/>
          </a:solidFill>
          <a:ln/>
        </p:spPr>
      </p:sp>
      <p:sp>
        <p:nvSpPr>
          <p:cNvPr id="53" name="Text 43"/>
          <p:cNvSpPr/>
          <p:nvPr/>
        </p:nvSpPr>
        <p:spPr>
          <a:xfrm>
            <a:off x="7100316" y="3319272"/>
            <a:ext cx="1417320" cy="292608"/>
          </a:xfrm>
          <a:prstGeom prst="rect">
            <a:avLst/>
          </a:prstGeom>
          <a:noFill/>
          <a:ln/>
        </p:spPr>
        <p:txBody>
          <a:bodyPr wrap="square" lIns="0" tIns="0" rIns="0" bIns="0" rtlCol="0" anchor="ctr"/>
          <a:lstStyle/>
          <a:p>
            <a:pPr algn="ctr" indent="0" marL="0">
              <a:buNone/>
            </a:pPr>
            <a:r>
              <a:rPr lang="en-US" sz="1300" b="1" dirty="0">
                <a:solidFill>
                  <a:srgbClr val="5B6A82"/>
                </a:solidFill>
                <a:latin typeface="Calibri" pitchFamily="34" charset="0"/>
                <a:ea typeface="Calibri" pitchFamily="34" charset="-122"/>
                <a:cs typeface="Calibri" pitchFamily="34" charset="-120"/>
              </a:rPr>
              <a:t>Review</a:t>
            </a:r>
            <a:endParaRPr lang="en-US" sz="1300" dirty="0"/>
          </a:p>
        </p:txBody>
      </p:sp>
      <p:sp>
        <p:nvSpPr>
          <p:cNvPr id="54" name="Text 44"/>
          <p:cNvSpPr/>
          <p:nvPr/>
        </p:nvSpPr>
        <p:spPr>
          <a:xfrm>
            <a:off x="7146036" y="3657600"/>
            <a:ext cx="1325880" cy="411480"/>
          </a:xfrm>
          <a:prstGeom prst="rect">
            <a:avLst/>
          </a:prstGeom>
          <a:noFill/>
          <a:ln/>
        </p:spPr>
        <p:txBody>
          <a:bodyPr wrap="square" lIns="0" tIns="0" rIns="0" bIns="0" rtlCol="0" anchor="ctr"/>
          <a:lstStyle/>
          <a:p>
            <a:pPr algn="ctr" indent="0" marL="0">
              <a:buNone/>
            </a:pPr>
            <a:r>
              <a:rPr lang="en-US" sz="900" dirty="0">
                <a:solidFill>
                  <a:srgbClr val="0F1A2C"/>
                </a:solidFill>
                <a:latin typeface="Calibri" pitchFamily="34" charset="0"/>
                <a:ea typeface="Calibri" pitchFamily="34" charset="-122"/>
                <a:cs typeface="Calibri" pitchFamily="34" charset="-120"/>
              </a:rPr>
              <a:t>ship it</a:t>
            </a:r>
            <a:endParaRPr lang="en-US" sz="900" dirty="0"/>
          </a:p>
        </p:txBody>
      </p:sp>
      <p:sp>
        <p:nvSpPr>
          <p:cNvPr id="55" name="Text 45"/>
          <p:cNvSpPr/>
          <p:nvPr/>
        </p:nvSpPr>
        <p:spPr>
          <a:xfrm>
            <a:off x="457200" y="4434840"/>
            <a:ext cx="8229600" cy="320040"/>
          </a:xfrm>
          <a:prstGeom prst="rect">
            <a:avLst/>
          </a:prstGeom>
          <a:noFill/>
          <a:ln/>
        </p:spPr>
        <p:txBody>
          <a:bodyPr wrap="square" lIns="0" tIns="0" rIns="0" bIns="0" rtlCol="0" anchor="ctr"/>
          <a:lstStyle/>
          <a:p>
            <a:pPr algn="ctr" indent="0" marL="0">
              <a:buNone/>
            </a:pPr>
            <a:r>
              <a:rPr lang="en-US" sz="1500" b="1" i="1" dirty="0">
                <a:solidFill>
                  <a:srgbClr val="003B70"/>
                </a:solidFill>
                <a:latin typeface="Georgia" pitchFamily="34" charset="0"/>
                <a:ea typeface="Georgia" pitchFamily="34" charset="-122"/>
                <a:cs typeface="Georgia" pitchFamily="34" charset="-120"/>
              </a:rPr>
              <a:t>Same kit grounds both.  Use the tool that fits the task.</a:t>
            </a:r>
            <a:endParaRPr lang="en-US" sz="1500" dirty="0"/>
          </a:p>
        </p:txBody>
      </p:sp>
      <p:sp>
        <p:nvSpPr>
          <p:cNvPr id="56" name="Text 46"/>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12 / 19</a:t>
            </a:r>
            <a:endParaRPr lang="en-US" sz="900" dirty="0"/>
          </a:p>
        </p:txBody>
      </p:sp>
      <p:sp>
        <p:nvSpPr>
          <p:cNvPr id="57" name="Text 47"/>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CONSISTENCY MECHANISM</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Specs are the contract</a:t>
            </a:r>
            <a:endParaRPr lang="en-US" sz="2600" dirty="0"/>
          </a:p>
        </p:txBody>
      </p:sp>
      <p:sp>
        <p:nvSpPr>
          <p:cNvPr id="5" name="Shape 3"/>
          <p:cNvSpPr/>
          <p:nvPr/>
        </p:nvSpPr>
        <p:spPr>
          <a:xfrm>
            <a:off x="457200" y="1417320"/>
            <a:ext cx="4023360" cy="1691640"/>
          </a:xfrm>
          <a:prstGeom prst="rect">
            <a:avLst/>
          </a:prstGeom>
          <a:solidFill>
            <a:srgbClr val="F4F6FA"/>
          </a:solidFill>
          <a:ln w="12700">
            <a:solidFill>
              <a:srgbClr val="D6DEEB"/>
            </a:solidFill>
            <a:prstDash val="solid"/>
          </a:ln>
        </p:spPr>
      </p:sp>
      <p:pic>
        <p:nvPicPr>
          <p:cNvPr id="6" name="Image 0" descr="preencoded.png">    </p:cNvPr>
          <p:cNvPicPr>
            <a:picLocks noChangeAspect="1"/>
          </p:cNvPicPr>
          <p:nvPr/>
        </p:nvPicPr>
        <p:blipFill>
          <a:blip r:embed="rId1"/>
          <a:stretch>
            <a:fillRect/>
          </a:stretch>
        </p:blipFill>
        <p:spPr>
          <a:xfrm>
            <a:off x="685800" y="1600200"/>
            <a:ext cx="411480" cy="411480"/>
          </a:xfrm>
          <a:prstGeom prst="rect">
            <a:avLst/>
          </a:prstGeom>
        </p:spPr>
      </p:pic>
      <p:sp>
        <p:nvSpPr>
          <p:cNvPr id="7" name="Text 4"/>
          <p:cNvSpPr/>
          <p:nvPr/>
        </p:nvSpPr>
        <p:spPr>
          <a:xfrm>
            <a:off x="1234440" y="1554480"/>
            <a:ext cx="3108960" cy="365760"/>
          </a:xfrm>
          <a:prstGeom prst="rect">
            <a:avLst/>
          </a:prstGeom>
          <a:noFill/>
          <a:ln/>
        </p:spPr>
        <p:txBody>
          <a:bodyPr wrap="square" lIns="0" tIns="0" rIns="0" bIns="0" rtlCol="0" anchor="ctr"/>
          <a:lstStyle/>
          <a:p>
            <a:pPr indent="0" marL="0">
              <a:buNone/>
            </a:pPr>
            <a:r>
              <a:rPr lang="en-US" sz="2200" b="1" dirty="0">
                <a:solidFill>
                  <a:srgbClr val="003B70"/>
                </a:solidFill>
                <a:latin typeface="Georgia" pitchFamily="34" charset="0"/>
                <a:ea typeface="Georgia" pitchFamily="34" charset="-122"/>
                <a:cs typeface="Georgia" pitchFamily="34" charset="-120"/>
              </a:rPr>
              <a:t>Specs</a:t>
            </a:r>
            <a:endParaRPr lang="en-US" sz="2200" dirty="0"/>
          </a:p>
        </p:txBody>
      </p:sp>
      <p:sp>
        <p:nvSpPr>
          <p:cNvPr id="8" name="Text 5"/>
          <p:cNvSpPr/>
          <p:nvPr/>
        </p:nvSpPr>
        <p:spPr>
          <a:xfrm>
            <a:off x="1234440" y="1920240"/>
            <a:ext cx="3108960" cy="228600"/>
          </a:xfrm>
          <a:prstGeom prst="rect">
            <a:avLst/>
          </a:prstGeom>
          <a:noFill/>
          <a:ln/>
        </p:spPr>
        <p:txBody>
          <a:bodyPr wrap="square" lIns="0" tIns="0" rIns="0" bIns="0" rtlCol="0" anchor="ctr"/>
          <a:lstStyle/>
          <a:p>
            <a:pPr indent="0" marL="0">
              <a:buNone/>
            </a:pPr>
            <a:r>
              <a:rPr lang="en-US" sz="1100" i="1" dirty="0">
                <a:solidFill>
                  <a:srgbClr val="D9261C"/>
                </a:solidFill>
                <a:latin typeface="Calibri" pitchFamily="34" charset="0"/>
                <a:ea typeface="Calibri" pitchFamily="34" charset="-122"/>
                <a:cs typeface="Calibri" pitchFamily="34" charset="-120"/>
              </a:rPr>
              <a:t>what to build</a:t>
            </a:r>
            <a:endParaRPr lang="en-US" sz="1100" dirty="0"/>
          </a:p>
        </p:txBody>
      </p:sp>
      <p:sp>
        <p:nvSpPr>
          <p:cNvPr id="9" name="Text 6"/>
          <p:cNvSpPr/>
          <p:nvPr/>
        </p:nvSpPr>
        <p:spPr>
          <a:xfrm>
            <a:off x="685800" y="2240280"/>
            <a:ext cx="3657600" cy="777240"/>
          </a:xfrm>
          <a:prstGeom prst="rect">
            <a:avLst/>
          </a:prstGeom>
          <a:noFill/>
          <a:ln/>
        </p:spPr>
        <p:txBody>
          <a:bodyPr wrap="square" lIns="0" tIns="0" rIns="0" bIns="0" rtlCol="0" anchor="ctr"/>
          <a:lstStyle/>
          <a:p>
            <a:pPr indent="0" marL="0">
              <a:buNone/>
            </a:pPr>
            <a:r>
              <a:rPr lang="en-US" sz="1200" dirty="0">
                <a:solidFill>
                  <a:srgbClr val="0F1A2C"/>
                </a:solidFill>
                <a:latin typeface="Calibri" pitchFamily="34" charset="0"/>
                <a:ea typeface="Calibri" pitchFamily="34" charset="-122"/>
                <a:cs typeface="Calibri" pitchFamily="34" charset="-120"/>
              </a:rPr>
              <a:t>Plain markdown with structured sections. Capture intent, persona, archetype, behavior.</a:t>
            </a:r>
            <a:endParaRPr lang="en-US" sz="1200" dirty="0"/>
          </a:p>
        </p:txBody>
      </p:sp>
      <p:sp>
        <p:nvSpPr>
          <p:cNvPr id="10" name="Shape 7"/>
          <p:cNvSpPr/>
          <p:nvPr/>
        </p:nvSpPr>
        <p:spPr>
          <a:xfrm>
            <a:off x="4663440" y="1417320"/>
            <a:ext cx="4023360" cy="1691640"/>
          </a:xfrm>
          <a:prstGeom prst="rect">
            <a:avLst/>
          </a:prstGeom>
          <a:solidFill>
            <a:srgbClr val="F4F6FA"/>
          </a:solidFill>
          <a:ln w="12700">
            <a:solidFill>
              <a:srgbClr val="D6DEEB"/>
            </a:solidFill>
            <a:prstDash val="solid"/>
          </a:ln>
        </p:spPr>
      </p:sp>
      <p:pic>
        <p:nvPicPr>
          <p:cNvPr id="11" name="Image 1" descr="preencoded.png">    </p:cNvPr>
          <p:cNvPicPr>
            <a:picLocks noChangeAspect="1"/>
          </p:cNvPicPr>
          <p:nvPr/>
        </p:nvPicPr>
        <p:blipFill>
          <a:blip r:embed="rId2"/>
          <a:stretch>
            <a:fillRect/>
          </a:stretch>
        </p:blipFill>
        <p:spPr>
          <a:xfrm>
            <a:off x="4892040" y="1600200"/>
            <a:ext cx="411480" cy="411480"/>
          </a:xfrm>
          <a:prstGeom prst="rect">
            <a:avLst/>
          </a:prstGeom>
        </p:spPr>
      </p:pic>
      <p:sp>
        <p:nvSpPr>
          <p:cNvPr id="12" name="Text 8"/>
          <p:cNvSpPr/>
          <p:nvPr/>
        </p:nvSpPr>
        <p:spPr>
          <a:xfrm>
            <a:off x="5440680" y="1554480"/>
            <a:ext cx="3108960" cy="365760"/>
          </a:xfrm>
          <a:prstGeom prst="rect">
            <a:avLst/>
          </a:prstGeom>
          <a:noFill/>
          <a:ln/>
        </p:spPr>
        <p:txBody>
          <a:bodyPr wrap="square" lIns="0" tIns="0" rIns="0" bIns="0" rtlCol="0" anchor="ctr"/>
          <a:lstStyle/>
          <a:p>
            <a:pPr indent="0" marL="0">
              <a:buNone/>
            </a:pPr>
            <a:r>
              <a:rPr lang="en-US" sz="2200" b="1" dirty="0">
                <a:solidFill>
                  <a:srgbClr val="003B70"/>
                </a:solidFill>
                <a:latin typeface="Georgia" pitchFamily="34" charset="0"/>
                <a:ea typeface="Georgia" pitchFamily="34" charset="-122"/>
                <a:cs typeface="Georgia" pitchFamily="34" charset="-120"/>
              </a:rPr>
              <a:t>Schemas</a:t>
            </a:r>
            <a:endParaRPr lang="en-US" sz="2200" dirty="0"/>
          </a:p>
        </p:txBody>
      </p:sp>
      <p:sp>
        <p:nvSpPr>
          <p:cNvPr id="13" name="Text 9"/>
          <p:cNvSpPr/>
          <p:nvPr/>
        </p:nvSpPr>
        <p:spPr>
          <a:xfrm>
            <a:off x="5440680" y="1920240"/>
            <a:ext cx="3108960" cy="228600"/>
          </a:xfrm>
          <a:prstGeom prst="rect">
            <a:avLst/>
          </a:prstGeom>
          <a:noFill/>
          <a:ln/>
        </p:spPr>
        <p:txBody>
          <a:bodyPr wrap="square" lIns="0" tIns="0" rIns="0" bIns="0" rtlCol="0" anchor="ctr"/>
          <a:lstStyle/>
          <a:p>
            <a:pPr indent="0" marL="0">
              <a:buNone/>
            </a:pPr>
            <a:r>
              <a:rPr lang="en-US" sz="1100" i="1" dirty="0">
                <a:solidFill>
                  <a:srgbClr val="D9261C"/>
                </a:solidFill>
                <a:latin typeface="Calibri" pitchFamily="34" charset="0"/>
                <a:ea typeface="Calibri" pitchFamily="34" charset="-122"/>
                <a:cs typeface="Calibri" pitchFamily="34" charset="-120"/>
              </a:rPr>
              <a:t>what valid output looks like</a:t>
            </a:r>
            <a:endParaRPr lang="en-US" sz="1100" dirty="0"/>
          </a:p>
        </p:txBody>
      </p:sp>
      <p:sp>
        <p:nvSpPr>
          <p:cNvPr id="14" name="Text 10"/>
          <p:cNvSpPr/>
          <p:nvPr/>
        </p:nvSpPr>
        <p:spPr>
          <a:xfrm>
            <a:off x="4892040" y="2240280"/>
            <a:ext cx="3657600" cy="777240"/>
          </a:xfrm>
          <a:prstGeom prst="rect">
            <a:avLst/>
          </a:prstGeom>
          <a:noFill/>
          <a:ln/>
        </p:spPr>
        <p:txBody>
          <a:bodyPr wrap="square" lIns="0" tIns="0" rIns="0" bIns="0" rtlCol="0" anchor="ctr"/>
          <a:lstStyle/>
          <a:p>
            <a:pPr indent="0" marL="0">
              <a:buNone/>
            </a:pPr>
            <a:r>
              <a:rPr lang="en-US" sz="1200" dirty="0">
                <a:solidFill>
                  <a:srgbClr val="0F1A2C"/>
                </a:solidFill>
                <a:latin typeface="Calibri" pitchFamily="34" charset="0"/>
                <a:ea typeface="Calibri" pitchFamily="34" charset="-122"/>
                <a:cs typeface="Calibri" pitchFamily="34" charset="-120"/>
              </a:rPr>
              <a:t>JSON Schema. Machine-readable. Validates every config the agent produces.</a:t>
            </a:r>
            <a:endParaRPr lang="en-US" sz="1200" dirty="0"/>
          </a:p>
        </p:txBody>
      </p:sp>
      <p:sp>
        <p:nvSpPr>
          <p:cNvPr id="15" name="Shape 11"/>
          <p:cNvSpPr/>
          <p:nvPr/>
        </p:nvSpPr>
        <p:spPr>
          <a:xfrm>
            <a:off x="457200" y="3337560"/>
            <a:ext cx="8229600" cy="640080"/>
          </a:xfrm>
          <a:prstGeom prst="rect">
            <a:avLst/>
          </a:prstGeom>
          <a:solidFill>
            <a:srgbClr val="003B70"/>
          </a:solidFill>
          <a:ln/>
        </p:spPr>
      </p:sp>
      <p:sp>
        <p:nvSpPr>
          <p:cNvPr id="16" name="Text 12"/>
          <p:cNvSpPr/>
          <p:nvPr/>
        </p:nvSpPr>
        <p:spPr>
          <a:xfrm>
            <a:off x="457200" y="3337560"/>
            <a:ext cx="82296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AI reads spec  →  produces config  →  schema validates  →  reviewer focuses on the spec, not the JSON</a:t>
            </a:r>
            <a:endParaRPr lang="en-US" sz="1300" dirty="0"/>
          </a:p>
        </p:txBody>
      </p:sp>
      <p:sp>
        <p:nvSpPr>
          <p:cNvPr id="17" name="Text 13"/>
          <p:cNvSpPr/>
          <p:nvPr/>
        </p:nvSpPr>
        <p:spPr>
          <a:xfrm>
            <a:off x="457200" y="4160520"/>
            <a:ext cx="8229600" cy="274320"/>
          </a:xfrm>
          <a:prstGeom prst="rect">
            <a:avLst/>
          </a:prstGeom>
          <a:noFill/>
          <a:ln/>
        </p:spPr>
        <p:txBody>
          <a:bodyPr wrap="square" lIns="0" tIns="0" rIns="0" bIns="0" rtlCol="0" anchor="ctr"/>
          <a:lstStyle/>
          <a:p>
            <a:pPr algn="ctr" indent="0" marL="0">
              <a:buNone/>
            </a:pPr>
            <a:r>
              <a:rPr lang="en-US" sz="1200" i="1" dirty="0">
                <a:solidFill>
                  <a:srgbClr val="5B6A82"/>
                </a:solidFill>
                <a:latin typeface="Calibri" pitchFamily="34" charset="0"/>
                <a:ea typeface="Calibri" pitchFamily="34" charset="-122"/>
                <a:cs typeface="Calibri" pitchFamily="34" charset="-120"/>
              </a:rPr>
              <a:t>Schemas are how a copy-paste kit stays coherent across teams.</a:t>
            </a:r>
            <a:endParaRPr lang="en-US" sz="1200" dirty="0"/>
          </a:p>
        </p:txBody>
      </p:sp>
      <p:sp>
        <p:nvSpPr>
          <p:cNvPr id="18" name="Text 14"/>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13 / 19</a:t>
            </a:r>
            <a:endParaRPr lang="en-US" sz="900" dirty="0"/>
          </a:p>
        </p:txBody>
      </p:sp>
      <p:sp>
        <p:nvSpPr>
          <p:cNvPr id="19" name="Text 15"/>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THE EXECUTABLE LAYER</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Skills — packaged, callable workflows</a:t>
            </a:r>
            <a:endParaRPr lang="en-US" sz="2600" dirty="0"/>
          </a:p>
        </p:txBody>
      </p:sp>
      <p:sp>
        <p:nvSpPr>
          <p:cNvPr id="5" name="Shape 3"/>
          <p:cNvSpPr/>
          <p:nvPr/>
        </p:nvSpPr>
        <p:spPr>
          <a:xfrm>
            <a:off x="457200" y="1371600"/>
            <a:ext cx="8229600" cy="731520"/>
          </a:xfrm>
          <a:prstGeom prst="rect">
            <a:avLst/>
          </a:prstGeom>
          <a:solidFill>
            <a:srgbClr val="F4F6FA"/>
          </a:solidFill>
          <a:ln w="12700">
            <a:solidFill>
              <a:srgbClr val="D6DEEB"/>
            </a:solidFill>
            <a:prstDash val="solid"/>
          </a:ln>
        </p:spPr>
      </p:sp>
      <p:pic>
        <p:nvPicPr>
          <p:cNvPr id="6" name="Image 0" descr="preencoded.png">    </p:cNvPr>
          <p:cNvPicPr>
            <a:picLocks noChangeAspect="1"/>
          </p:cNvPicPr>
          <p:nvPr/>
        </p:nvPicPr>
        <p:blipFill>
          <a:blip r:embed="rId1"/>
          <a:stretch>
            <a:fillRect/>
          </a:stretch>
        </p:blipFill>
        <p:spPr>
          <a:xfrm>
            <a:off x="640080" y="1554480"/>
            <a:ext cx="365760" cy="365760"/>
          </a:xfrm>
          <a:prstGeom prst="rect">
            <a:avLst/>
          </a:prstGeom>
        </p:spPr>
      </p:pic>
      <p:sp>
        <p:nvSpPr>
          <p:cNvPr id="7" name="Text 4"/>
          <p:cNvSpPr/>
          <p:nvPr/>
        </p:nvSpPr>
        <p:spPr>
          <a:xfrm>
            <a:off x="1143000" y="1417320"/>
            <a:ext cx="7406640" cy="640080"/>
          </a:xfrm>
          <a:prstGeom prst="rect">
            <a:avLst/>
          </a:prstGeom>
          <a:noFill/>
          <a:ln/>
        </p:spPr>
        <p:txBody>
          <a:bodyPr wrap="square" lIns="0" tIns="0" rIns="0" bIns="0" rtlCol="0" anchor="ctr"/>
          <a:lstStyle/>
          <a:p>
            <a:pPr indent="0" marL="0">
              <a:buNone/>
            </a:pPr>
            <a:r>
              <a:rPr lang="en-US" sz="1300" i="1" dirty="0">
                <a:solidFill>
                  <a:srgbClr val="0F1A2C"/>
                </a:solidFill>
                <a:latin typeface="Calibri" pitchFamily="34" charset="0"/>
                <a:ea typeface="Calibri" pitchFamily="34" charset="-122"/>
                <a:cs typeface="Calibri" pitchFamily="34" charset="-120"/>
              </a:rPr>
              <a:t>A skill encodes a workflow: "To build a grid spec, read the schema, use the archetype vocabulary, output in this format."</a:t>
            </a:r>
            <a:endParaRPr lang="en-US" sz="1300" dirty="0"/>
          </a:p>
        </p:txBody>
      </p:sp>
      <p:sp>
        <p:nvSpPr>
          <p:cNvPr id="8" name="Shape 5"/>
          <p:cNvSpPr/>
          <p:nvPr/>
        </p:nvSpPr>
        <p:spPr>
          <a:xfrm>
            <a:off x="548640" y="2359152"/>
            <a:ext cx="201168" cy="201168"/>
          </a:xfrm>
          <a:prstGeom prst="ellipse">
            <a:avLst/>
          </a:prstGeom>
          <a:solidFill>
            <a:srgbClr val="003B70"/>
          </a:solidFill>
          <a:ln/>
        </p:spPr>
      </p:sp>
      <p:sp>
        <p:nvSpPr>
          <p:cNvPr id="9" name="Text 6"/>
          <p:cNvSpPr/>
          <p:nvPr/>
        </p:nvSpPr>
        <p:spPr>
          <a:xfrm>
            <a:off x="548640" y="2359152"/>
            <a:ext cx="201168"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p:nvPr/>
        </p:nvSpPr>
        <p:spPr>
          <a:xfrm>
            <a:off x="868680" y="2286000"/>
            <a:ext cx="7680960" cy="365760"/>
          </a:xfrm>
          <a:prstGeom prst="rect">
            <a:avLst/>
          </a:prstGeom>
          <a:noFill/>
          <a:ln/>
        </p:spPr>
        <p:txBody>
          <a:bodyPr wrap="square" lIns="0" tIns="0" rIns="0" bIns="0" rtlCol="0" anchor="ctr"/>
          <a:lstStyle/>
          <a:p>
            <a:pPr indent="0" marL="0">
              <a:buNone/>
            </a:pPr>
            <a:r>
              <a:rPr lang="en-US" sz="1400" dirty="0">
                <a:solidFill>
                  <a:srgbClr val="0F1A2C"/>
                </a:solidFill>
                <a:latin typeface="Calibri" pitchFamily="34" charset="0"/>
                <a:ea typeface="Calibri" pitchFamily="34" charset="-122"/>
                <a:cs typeface="Calibri" pitchFamily="34" charset="-120"/>
              </a:rPr>
              <a:t>Skills live in the kit, alongside personas and standards</a:t>
            </a:r>
            <a:endParaRPr lang="en-US" sz="1400" dirty="0"/>
          </a:p>
        </p:txBody>
      </p:sp>
      <p:sp>
        <p:nvSpPr>
          <p:cNvPr id="11" name="Shape 8"/>
          <p:cNvSpPr/>
          <p:nvPr/>
        </p:nvSpPr>
        <p:spPr>
          <a:xfrm>
            <a:off x="548640" y="2743200"/>
            <a:ext cx="201168" cy="201168"/>
          </a:xfrm>
          <a:prstGeom prst="ellipse">
            <a:avLst/>
          </a:prstGeom>
          <a:solidFill>
            <a:srgbClr val="003B70"/>
          </a:solidFill>
          <a:ln/>
        </p:spPr>
      </p:sp>
      <p:sp>
        <p:nvSpPr>
          <p:cNvPr id="12" name="Text 9"/>
          <p:cNvSpPr/>
          <p:nvPr/>
        </p:nvSpPr>
        <p:spPr>
          <a:xfrm>
            <a:off x="548640" y="2743200"/>
            <a:ext cx="201168"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868680" y="2670048"/>
            <a:ext cx="7680960" cy="365760"/>
          </a:xfrm>
          <a:prstGeom prst="rect">
            <a:avLst/>
          </a:prstGeom>
          <a:noFill/>
          <a:ln/>
        </p:spPr>
        <p:txBody>
          <a:bodyPr wrap="square" lIns="0" tIns="0" rIns="0" bIns="0" rtlCol="0" anchor="ctr"/>
          <a:lstStyle/>
          <a:p>
            <a:pPr indent="0" marL="0">
              <a:buNone/>
            </a:pPr>
            <a:r>
              <a:rPr lang="en-US" sz="1400" dirty="0">
                <a:solidFill>
                  <a:srgbClr val="0F1A2C"/>
                </a:solidFill>
                <a:latin typeface="Calibri" pitchFamily="34" charset="0"/>
                <a:ea typeface="Calibri" pitchFamily="34" charset="-122"/>
                <a:cs typeface="Calibri" pitchFamily="34" charset="-120"/>
              </a:rPr>
              <a:t>AGENTS.md lists which skills are available and when to use them</a:t>
            </a:r>
            <a:endParaRPr lang="en-US" sz="1400" dirty="0"/>
          </a:p>
        </p:txBody>
      </p:sp>
      <p:sp>
        <p:nvSpPr>
          <p:cNvPr id="14" name="Shape 11"/>
          <p:cNvSpPr/>
          <p:nvPr/>
        </p:nvSpPr>
        <p:spPr>
          <a:xfrm>
            <a:off x="548640" y="3127248"/>
            <a:ext cx="201168" cy="201168"/>
          </a:xfrm>
          <a:prstGeom prst="ellipse">
            <a:avLst/>
          </a:prstGeom>
          <a:solidFill>
            <a:srgbClr val="003B70"/>
          </a:solidFill>
          <a:ln/>
        </p:spPr>
      </p:sp>
      <p:sp>
        <p:nvSpPr>
          <p:cNvPr id="15" name="Text 12"/>
          <p:cNvSpPr/>
          <p:nvPr/>
        </p:nvSpPr>
        <p:spPr>
          <a:xfrm>
            <a:off x="548640" y="3127248"/>
            <a:ext cx="201168"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3"/>
          <p:cNvSpPr/>
          <p:nvPr/>
        </p:nvSpPr>
        <p:spPr>
          <a:xfrm>
            <a:off x="868680" y="3054096"/>
            <a:ext cx="7680960" cy="365760"/>
          </a:xfrm>
          <a:prstGeom prst="rect">
            <a:avLst/>
          </a:prstGeom>
          <a:noFill/>
          <a:ln/>
        </p:spPr>
        <p:txBody>
          <a:bodyPr wrap="square" lIns="0" tIns="0" rIns="0" bIns="0" rtlCol="0" anchor="ctr"/>
          <a:lstStyle/>
          <a:p>
            <a:pPr indent="0" marL="0">
              <a:buNone/>
            </a:pPr>
            <a:r>
              <a:rPr lang="en-US" sz="1400" dirty="0">
                <a:solidFill>
                  <a:srgbClr val="0F1A2C"/>
                </a:solidFill>
                <a:latin typeface="Calibri" pitchFamily="34" charset="0"/>
                <a:ea typeface="Calibri" pitchFamily="34" charset="-122"/>
                <a:cs typeface="Calibri" pitchFamily="34" charset="-120"/>
              </a:rPr>
              <a:t>An agent reads AGENTS.md, recognizes the task matches a skill, invokes it</a:t>
            </a:r>
            <a:endParaRPr lang="en-US" sz="1400" dirty="0"/>
          </a:p>
        </p:txBody>
      </p:sp>
      <p:sp>
        <p:nvSpPr>
          <p:cNvPr id="17" name="Shape 14"/>
          <p:cNvSpPr/>
          <p:nvPr/>
        </p:nvSpPr>
        <p:spPr>
          <a:xfrm>
            <a:off x="457200" y="3657600"/>
            <a:ext cx="8229600" cy="868680"/>
          </a:xfrm>
          <a:prstGeom prst="rect">
            <a:avLst/>
          </a:prstGeom>
          <a:solidFill>
            <a:srgbClr val="FBE5E3"/>
          </a:solidFill>
          <a:ln/>
        </p:spPr>
      </p:sp>
      <p:sp>
        <p:nvSpPr>
          <p:cNvPr id="18" name="Shape 15"/>
          <p:cNvSpPr/>
          <p:nvPr/>
        </p:nvSpPr>
        <p:spPr>
          <a:xfrm>
            <a:off x="457200" y="3657600"/>
            <a:ext cx="73152" cy="868680"/>
          </a:xfrm>
          <a:prstGeom prst="rect">
            <a:avLst/>
          </a:prstGeom>
          <a:solidFill>
            <a:srgbClr val="D9261C"/>
          </a:solidFill>
          <a:ln/>
        </p:spPr>
      </p:sp>
      <p:sp>
        <p:nvSpPr>
          <p:cNvPr id="19" name="Text 16"/>
          <p:cNvSpPr/>
          <p:nvPr/>
        </p:nvSpPr>
        <p:spPr>
          <a:xfrm>
            <a:off x="685800" y="3730752"/>
            <a:ext cx="7772400" cy="201168"/>
          </a:xfrm>
          <a:prstGeom prst="rect">
            <a:avLst/>
          </a:prstGeom>
          <a:noFill/>
          <a:ln/>
        </p:spPr>
        <p:txBody>
          <a:bodyPr wrap="square" lIns="0" tIns="0" rIns="0" bIns="0" rtlCol="0" anchor="ctr"/>
          <a:lstStyle/>
          <a:p>
            <a:pPr indent="0" marL="0">
              <a:buNone/>
            </a:pPr>
            <a:r>
              <a:rPr lang="en-US" sz="1000" b="1" spc="400" kern="0" dirty="0">
                <a:solidFill>
                  <a:srgbClr val="D9261C"/>
                </a:solidFill>
                <a:latin typeface="Calibri" pitchFamily="34" charset="0"/>
                <a:ea typeface="Calibri" pitchFamily="34" charset="-122"/>
                <a:cs typeface="Calibri" pitchFamily="34" charset="-120"/>
              </a:rPr>
              <a:t>EXAMPLE</a:t>
            </a:r>
            <a:endParaRPr lang="en-US" sz="1000" dirty="0"/>
          </a:p>
        </p:txBody>
      </p:sp>
      <p:sp>
        <p:nvSpPr>
          <p:cNvPr id="20" name="Text 17"/>
          <p:cNvSpPr/>
          <p:nvPr/>
        </p:nvSpPr>
        <p:spPr>
          <a:xfrm>
            <a:off x="685800" y="3950208"/>
            <a:ext cx="7863840" cy="548640"/>
          </a:xfrm>
          <a:prstGeom prst="rect">
            <a:avLst/>
          </a:prstGeom>
          <a:noFill/>
          <a:ln/>
        </p:spPr>
        <p:txBody>
          <a:bodyPr wrap="square" lIns="0" tIns="0" rIns="0" bIns="0" rtlCol="0" anchor="ctr"/>
          <a:lstStyle/>
          <a:p>
            <a:pPr indent="0" marL="0">
              <a:buNone/>
            </a:pPr>
            <a:r>
              <a:rPr lang="en-US" sz="1300" dirty="0">
                <a:solidFill>
                  <a:srgbClr val="0F1A2C"/>
                </a:solidFill>
                <a:latin typeface="Calibri" pitchFamily="34" charset="0"/>
                <a:ea typeface="Calibri" pitchFamily="34" charset="-122"/>
                <a:cs typeface="Calibri" pitchFamily="34" charset="-120"/>
              </a:rPr>
              <a:t>Our AG Grid schema skill — knows the schema, the archetypes, the output format. Any developer can invoke it. The skill enforces the consistency.</a:t>
            </a:r>
            <a:endParaRPr lang="en-US" sz="1300" dirty="0"/>
          </a:p>
        </p:txBody>
      </p:sp>
      <p:sp>
        <p:nvSpPr>
          <p:cNvPr id="21" name="Text 18"/>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14 / 19</a:t>
            </a:r>
            <a:endParaRPr lang="en-US" sz="900" dirty="0"/>
          </a:p>
        </p:txBody>
      </p:sp>
      <p:sp>
        <p:nvSpPr>
          <p:cNvPr id="22" name="Text 19"/>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3B7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261C"/>
          </a:solidFill>
          <a:ln/>
        </p:spPr>
      </p:sp>
      <p:sp>
        <p:nvSpPr>
          <p:cNvPr id="3" name="Text 1"/>
          <p:cNvSpPr/>
          <p:nvPr/>
        </p:nvSpPr>
        <p:spPr>
          <a:xfrm>
            <a:off x="640080" y="548640"/>
            <a:ext cx="7772400" cy="274320"/>
          </a:xfrm>
          <a:prstGeom prst="rect">
            <a:avLst/>
          </a:prstGeom>
          <a:noFill/>
          <a:ln/>
        </p:spPr>
        <p:txBody>
          <a:bodyPr wrap="square" lIns="0" tIns="0" rIns="0" bIns="0" rtlCol="0" anchor="ctr"/>
          <a:lstStyle/>
          <a:p>
            <a:pPr indent="0" marL="0">
              <a:buNone/>
            </a:pPr>
            <a:r>
              <a:rPr lang="en-US" sz="1200" b="1" spc="600" kern="0" dirty="0">
                <a:solidFill>
                  <a:srgbClr val="9FB6D3"/>
                </a:solidFill>
                <a:latin typeface="Calibri" pitchFamily="34" charset="0"/>
                <a:ea typeface="Calibri" pitchFamily="34" charset="-122"/>
                <a:cs typeface="Calibri" pitchFamily="34" charset="-120"/>
              </a:rPr>
              <a:t>DEMO 1</a:t>
            </a:r>
            <a:endParaRPr lang="en-US" sz="1200" dirty="0"/>
          </a:p>
        </p:txBody>
      </p:sp>
      <p:sp>
        <p:nvSpPr>
          <p:cNvPr id="4" name="Text 2"/>
          <p:cNvSpPr/>
          <p:nvPr/>
        </p:nvSpPr>
        <p:spPr>
          <a:xfrm>
            <a:off x="640080" y="914400"/>
            <a:ext cx="7772400" cy="7315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Copilot drafts a spec</a:t>
            </a:r>
            <a:endParaRPr lang="en-US" sz="4000" dirty="0"/>
          </a:p>
        </p:txBody>
      </p:sp>
      <p:sp>
        <p:nvSpPr>
          <p:cNvPr id="5" name="Shape 3"/>
          <p:cNvSpPr/>
          <p:nvPr/>
        </p:nvSpPr>
        <p:spPr>
          <a:xfrm>
            <a:off x="640080" y="2011680"/>
            <a:ext cx="7863840" cy="2377440"/>
          </a:xfrm>
          <a:prstGeom prst="rect">
            <a:avLst/>
          </a:prstGeom>
          <a:solidFill>
            <a:srgbClr val="0F1A2C"/>
          </a:solidFill>
          <a:ln w="12700">
            <a:solidFill>
              <a:srgbClr val="1F3050"/>
            </a:solidFill>
            <a:prstDash val="solid"/>
          </a:ln>
        </p:spPr>
      </p:sp>
      <p:sp>
        <p:nvSpPr>
          <p:cNvPr id="6" name="Text 4"/>
          <p:cNvSpPr/>
          <p:nvPr/>
        </p:nvSpPr>
        <p:spPr>
          <a:xfrm>
            <a:off x="822960" y="2148840"/>
            <a:ext cx="7315200" cy="274320"/>
          </a:xfrm>
          <a:prstGeom prst="rect">
            <a:avLst/>
          </a:prstGeom>
          <a:noFill/>
          <a:ln/>
        </p:spPr>
        <p:txBody>
          <a:bodyPr wrap="square" lIns="0" tIns="0" rIns="0" bIns="0" rtlCol="0" anchor="ctr"/>
          <a:lstStyle/>
          <a:p>
            <a:pPr indent="0" marL="0">
              <a:buNone/>
            </a:pPr>
            <a:r>
              <a:rPr lang="en-US" sz="1100" b="1" spc="400" kern="0" dirty="0">
                <a:solidFill>
                  <a:srgbClr val="9FB6D3"/>
                </a:solidFill>
                <a:latin typeface="Calibri" pitchFamily="34" charset="0"/>
                <a:ea typeface="Calibri" pitchFamily="34" charset="-122"/>
                <a:cs typeface="Calibri" pitchFamily="34" charset="-120"/>
              </a:rPr>
              <a:t>SETUP</a:t>
            </a:r>
            <a:endParaRPr lang="en-US" sz="1100" dirty="0"/>
          </a:p>
        </p:txBody>
      </p:sp>
      <p:sp>
        <p:nvSpPr>
          <p:cNvPr id="7" name="Text 5"/>
          <p:cNvSpPr/>
          <p:nvPr/>
        </p:nvSpPr>
        <p:spPr>
          <a:xfrm>
            <a:off x="822960" y="2468880"/>
            <a:ext cx="7498080" cy="1828800"/>
          </a:xfrm>
          <a:prstGeom prst="rect">
            <a:avLst/>
          </a:prstGeom>
          <a:noFill/>
          <a:ln/>
        </p:spPr>
        <p:txBody>
          <a:bodyPr wrap="square" rtlCol="0" anchor="ctr"/>
          <a:lstStyle/>
          <a:p>
            <a:pPr indent="0" marL="0">
              <a:spcAft>
                <a:spcPts val="200"/>
              </a:spcAft>
              <a:buNone/>
            </a:pPr>
            <a:r>
              <a:rPr lang="en-US" sz="1400" b="1" dirty="0">
                <a:solidFill>
                  <a:srgbClr val="FBE5E3"/>
                </a:solidFill>
                <a:latin typeface="Calibri" pitchFamily="34" charset="0"/>
                <a:ea typeface="Calibri" pitchFamily="34" charset="-122"/>
                <a:cs typeface="Calibri" pitchFamily="34" charset="-120"/>
              </a:rPr>
              <a:t>Starting point:</a:t>
            </a:r>
            <a:pPr indent="0" marL="0">
              <a:spcAft>
                <a:spcPts val="200"/>
              </a:spcAft>
              <a:buNone/>
            </a:pPr>
            <a:r>
              <a:rPr lang="en-US" sz="1400" dirty="0">
                <a:solidFill>
                  <a:srgbClr val="FFFFFF"/>
                </a:solidFill>
                <a:latin typeface="Calibri" pitchFamily="34" charset="0"/>
                <a:ea typeface="Calibri" pitchFamily="34" charset="-122"/>
                <a:cs typeface="Calibri" pitchFamily="34" charset="-120"/>
              </a:rPr>
              <a:t>  empty spec file in the editor</a:t>
            </a:r>
            <a:endParaRPr lang="en-US" sz="1400" dirty="0"/>
          </a:p>
          <a:p>
            <a:pPr indent="0" marL="0">
              <a:spcAft>
                <a:spcPts val="200"/>
              </a:spcAft>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spcAft>
                <a:spcPts val="200"/>
              </a:spcAft>
              <a:buNone/>
            </a:pPr>
            <a:r>
              <a:rPr lang="en-US" sz="1400" b="1" dirty="0">
                <a:solidFill>
                  <a:srgbClr val="FBE5E3"/>
                </a:solidFill>
                <a:latin typeface="Calibri" pitchFamily="34" charset="0"/>
                <a:ea typeface="Calibri" pitchFamily="34" charset="-122"/>
                <a:cs typeface="Calibri" pitchFamily="34" charset="-120"/>
              </a:rPr>
              <a:t>Prompt:</a:t>
            </a:r>
            <a:pPr indent="0" marL="0">
              <a:spcAft>
                <a:spcPts val="200"/>
              </a:spcAft>
              <a:buNone/>
            </a:pPr>
            <a:r>
              <a:rPr lang="en-US" sz="1400" dirty="0">
                <a:solidFill>
                  <a:srgbClr val="FFFFFF"/>
                </a:solidFill>
                <a:latin typeface="Calibri" pitchFamily="34" charset="0"/>
                <a:ea typeface="Calibri" pitchFamily="34" charset="-122"/>
                <a:cs typeface="Calibri" pitchFamily="34" charset="-120"/>
              </a:rPr>
              <a:t>  a plain-English request for a new grid widget</a:t>
            </a:r>
            <a:endParaRPr lang="en-US" sz="1400" dirty="0"/>
          </a:p>
          <a:p>
            <a:pPr indent="0" marL="0">
              <a:spcAft>
                <a:spcPts val="200"/>
              </a:spcAft>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spcAft>
                <a:spcPts val="200"/>
              </a:spcAft>
              <a:buNone/>
            </a:pPr>
            <a:r>
              <a:rPr lang="en-US" sz="1400" b="1" dirty="0">
                <a:solidFill>
                  <a:srgbClr val="FBE5E3"/>
                </a:solidFill>
                <a:latin typeface="Calibri" pitchFamily="34" charset="0"/>
                <a:ea typeface="Calibri" pitchFamily="34" charset="-122"/>
                <a:cs typeface="Calibri" pitchFamily="34" charset="-120"/>
              </a:rPr>
              <a:t>Watch for:</a:t>
            </a:r>
            <a:pPr indent="0" marL="0">
              <a:spcAft>
                <a:spcPts val="200"/>
              </a:spcAft>
              <a:buNone/>
            </a:pPr>
            <a:r>
              <a:rPr lang="en-US" sz="1400" dirty="0">
                <a:solidFill>
                  <a:srgbClr val="FFFFFF"/>
                </a:solidFill>
                <a:latin typeface="Calibri" pitchFamily="34" charset="0"/>
                <a:ea typeface="Calibri" pitchFamily="34" charset="-122"/>
                <a:cs typeface="Calibri" pitchFamily="34" charset="-120"/>
              </a:rPr>
              <a:t>  Copilot reads the kit, produces a schema-valid spec</a:t>
            </a:r>
            <a:endParaRPr lang="en-US" sz="1400" dirty="0"/>
          </a:p>
          <a:p>
            <a:pPr indent="0" marL="0">
              <a:spcAft>
                <a:spcPts val="200"/>
              </a:spcAft>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spcAft>
                <a:spcPts val="200"/>
              </a:spcAft>
              <a:buNone/>
            </a:pPr>
            <a:r>
              <a:rPr lang="en-US" sz="1400" i="1" dirty="0">
                <a:solidFill>
                  <a:srgbClr val="9FB6D3"/>
                </a:solidFill>
                <a:latin typeface="Calibri" pitchFamily="34" charset="0"/>
                <a:ea typeface="Calibri" pitchFamily="34" charset="-122"/>
                <a:cs typeface="Calibri" pitchFamily="34" charset="-120"/>
              </a:rPr>
              <a:t>This is the AUTHORING half of the workflow</a:t>
            </a:r>
            <a:endParaRPr lang="en-US" sz="1400" dirty="0"/>
          </a:p>
        </p:txBody>
      </p:sp>
      <p:sp>
        <p:nvSpPr>
          <p:cNvPr id="8" name="Text 6"/>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9FB6D3"/>
                </a:solidFill>
                <a:latin typeface="Calibri" pitchFamily="34" charset="0"/>
                <a:ea typeface="Calibri" pitchFamily="34" charset="-122"/>
                <a:cs typeface="Calibri" pitchFamily="34" charset="-120"/>
              </a:rPr>
              <a:t>15 / 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3B7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261C"/>
          </a:solidFill>
          <a:ln/>
        </p:spPr>
      </p:sp>
      <p:sp>
        <p:nvSpPr>
          <p:cNvPr id="3" name="Text 1"/>
          <p:cNvSpPr/>
          <p:nvPr/>
        </p:nvSpPr>
        <p:spPr>
          <a:xfrm>
            <a:off x="640080" y="548640"/>
            <a:ext cx="7772400" cy="274320"/>
          </a:xfrm>
          <a:prstGeom prst="rect">
            <a:avLst/>
          </a:prstGeom>
          <a:noFill/>
          <a:ln/>
        </p:spPr>
        <p:txBody>
          <a:bodyPr wrap="square" lIns="0" tIns="0" rIns="0" bIns="0" rtlCol="0" anchor="ctr"/>
          <a:lstStyle/>
          <a:p>
            <a:pPr indent="0" marL="0">
              <a:buNone/>
            </a:pPr>
            <a:r>
              <a:rPr lang="en-US" sz="1200" b="1" spc="600" kern="0" dirty="0">
                <a:solidFill>
                  <a:srgbClr val="9FB6D3"/>
                </a:solidFill>
                <a:latin typeface="Calibri" pitchFamily="34" charset="0"/>
                <a:ea typeface="Calibri" pitchFamily="34" charset="-122"/>
                <a:cs typeface="Calibri" pitchFamily="34" charset="-120"/>
              </a:rPr>
              <a:t>DEMO 2</a:t>
            </a:r>
            <a:endParaRPr lang="en-US" sz="1200" dirty="0"/>
          </a:p>
        </p:txBody>
      </p:sp>
      <p:sp>
        <p:nvSpPr>
          <p:cNvPr id="4" name="Text 2"/>
          <p:cNvSpPr/>
          <p:nvPr/>
        </p:nvSpPr>
        <p:spPr>
          <a:xfrm>
            <a:off x="640080" y="914400"/>
            <a:ext cx="8046720" cy="73152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Devin replicates a feature across repos</a:t>
            </a:r>
            <a:endParaRPr lang="en-US" sz="3200" dirty="0"/>
          </a:p>
        </p:txBody>
      </p:sp>
      <p:sp>
        <p:nvSpPr>
          <p:cNvPr id="5" name="Shape 3"/>
          <p:cNvSpPr/>
          <p:nvPr/>
        </p:nvSpPr>
        <p:spPr>
          <a:xfrm>
            <a:off x="640080" y="1828800"/>
            <a:ext cx="7863840" cy="2606040"/>
          </a:xfrm>
          <a:prstGeom prst="rect">
            <a:avLst/>
          </a:prstGeom>
          <a:solidFill>
            <a:srgbClr val="0F1A2C"/>
          </a:solidFill>
          <a:ln w="12700">
            <a:solidFill>
              <a:srgbClr val="1F3050"/>
            </a:solidFill>
            <a:prstDash val="solid"/>
          </a:ln>
        </p:spPr>
      </p:sp>
      <p:sp>
        <p:nvSpPr>
          <p:cNvPr id="6" name="Text 4"/>
          <p:cNvSpPr/>
          <p:nvPr/>
        </p:nvSpPr>
        <p:spPr>
          <a:xfrm>
            <a:off x="822960" y="1965960"/>
            <a:ext cx="7315200" cy="274320"/>
          </a:xfrm>
          <a:prstGeom prst="rect">
            <a:avLst/>
          </a:prstGeom>
          <a:noFill/>
          <a:ln/>
        </p:spPr>
        <p:txBody>
          <a:bodyPr wrap="square" lIns="0" tIns="0" rIns="0" bIns="0" rtlCol="0" anchor="ctr"/>
          <a:lstStyle/>
          <a:p>
            <a:pPr indent="0" marL="0">
              <a:buNone/>
            </a:pPr>
            <a:r>
              <a:rPr lang="en-US" sz="1100" b="1" spc="400" kern="0" dirty="0">
                <a:solidFill>
                  <a:srgbClr val="9FB6D3"/>
                </a:solidFill>
                <a:latin typeface="Calibri" pitchFamily="34" charset="0"/>
                <a:ea typeface="Calibri" pitchFamily="34" charset="-122"/>
                <a:cs typeface="Calibri" pitchFamily="34" charset="-120"/>
              </a:rPr>
              <a:t>SETUP</a:t>
            </a:r>
            <a:endParaRPr lang="en-US" sz="1100" dirty="0"/>
          </a:p>
        </p:txBody>
      </p:sp>
      <p:sp>
        <p:nvSpPr>
          <p:cNvPr id="7" name="Text 5"/>
          <p:cNvSpPr/>
          <p:nvPr/>
        </p:nvSpPr>
        <p:spPr>
          <a:xfrm>
            <a:off x="822960" y="2286000"/>
            <a:ext cx="7498080" cy="2103120"/>
          </a:xfrm>
          <a:prstGeom prst="rect">
            <a:avLst/>
          </a:prstGeom>
          <a:noFill/>
          <a:ln/>
        </p:spPr>
        <p:txBody>
          <a:bodyPr wrap="square" rtlCol="0" anchor="ctr"/>
          <a:lstStyle/>
          <a:p>
            <a:pPr indent="0" marL="0">
              <a:spcAft>
                <a:spcPts val="200"/>
              </a:spcAft>
              <a:buNone/>
            </a:pPr>
            <a:r>
              <a:rPr lang="en-US" sz="1300" b="1" dirty="0">
                <a:solidFill>
                  <a:srgbClr val="FBE5E3"/>
                </a:solidFill>
                <a:latin typeface="Calibri" pitchFamily="34" charset="0"/>
                <a:ea typeface="Calibri" pitchFamily="34" charset="-122"/>
                <a:cs typeface="Calibri" pitchFamily="34" charset="-120"/>
              </a:rPr>
              <a:t>Source repo:</a:t>
            </a:r>
            <a:pPr indent="0" marL="0">
              <a:spcAft>
                <a:spcPts val="200"/>
              </a:spcAft>
              <a:buNone/>
            </a:pPr>
            <a:r>
              <a:rPr lang="en-US" sz="1300" dirty="0">
                <a:solidFill>
                  <a:srgbClr val="FFFFFF"/>
                </a:solidFill>
                <a:latin typeface="Calibri" pitchFamily="34" charset="0"/>
                <a:ea typeface="Calibri" pitchFamily="34" charset="-122"/>
                <a:cs typeface="Calibri" pitchFamily="34" charset="-120"/>
              </a:rPr>
              <a:t>  feature already exists (style + functionality)</a:t>
            </a:r>
            <a:endParaRPr lang="en-US" sz="1300" dirty="0"/>
          </a:p>
          <a:p>
            <a:pPr indent="0" marL="0">
              <a:spcAft>
                <a:spcPts val="200"/>
              </a:spcAft>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spcAft>
                <a:spcPts val="200"/>
              </a:spcAft>
              <a:buNone/>
            </a:pPr>
            <a:r>
              <a:rPr lang="en-US" sz="1300" b="1" dirty="0">
                <a:solidFill>
                  <a:srgbClr val="FBE5E3"/>
                </a:solidFill>
                <a:latin typeface="Calibri" pitchFamily="34" charset="0"/>
                <a:ea typeface="Calibri" pitchFamily="34" charset="-122"/>
                <a:cs typeface="Calibri" pitchFamily="34" charset="-120"/>
              </a:rPr>
              <a:t>Target repo:</a:t>
            </a:r>
            <a:pPr indent="0" marL="0">
              <a:spcAft>
                <a:spcPts val="200"/>
              </a:spcAft>
              <a:buNone/>
            </a:pPr>
            <a:r>
              <a:rPr lang="en-US" sz="1300" dirty="0">
                <a:solidFill>
                  <a:srgbClr val="FFFFFF"/>
                </a:solidFill>
                <a:latin typeface="Calibri" pitchFamily="34" charset="0"/>
                <a:ea typeface="Calibri" pitchFamily="34" charset="-122"/>
                <a:cs typeface="Calibri" pitchFamily="34" charset="-120"/>
              </a:rPr>
              <a:t>  same feature needed; target's own kit governs the output</a:t>
            </a:r>
            <a:endParaRPr lang="en-US" sz="1300" dirty="0"/>
          </a:p>
          <a:p>
            <a:pPr indent="0" marL="0">
              <a:spcAft>
                <a:spcPts val="200"/>
              </a:spcAft>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spcAft>
                <a:spcPts val="200"/>
              </a:spcAft>
              <a:buNone/>
            </a:pPr>
            <a:r>
              <a:rPr lang="en-US" sz="1300" b="1" dirty="0">
                <a:solidFill>
                  <a:srgbClr val="FBE5E3"/>
                </a:solidFill>
                <a:latin typeface="Calibri" pitchFamily="34" charset="0"/>
                <a:ea typeface="Calibri" pitchFamily="34" charset="-122"/>
                <a:cs typeface="Calibri" pitchFamily="34" charset="-120"/>
              </a:rPr>
              <a:t>What Devin does:</a:t>
            </a:r>
            <a:pPr indent="0" marL="0">
              <a:spcAft>
                <a:spcPts val="200"/>
              </a:spcAft>
              <a:buNone/>
            </a:pPr>
            <a:r>
              <a:rPr lang="en-US" sz="1300" dirty="0">
                <a:solidFill>
                  <a:srgbClr val="FFFFFF"/>
                </a:solidFill>
                <a:latin typeface="Calibri" pitchFamily="34" charset="0"/>
                <a:ea typeface="Calibri" pitchFamily="34" charset="-122"/>
                <a:cs typeface="Calibri" pitchFamily="34" charset="-120"/>
              </a:rPr>
              <a:t>  reads both repos' standards before generating</a:t>
            </a:r>
            <a:endParaRPr lang="en-US" sz="1300" dirty="0"/>
          </a:p>
          <a:p>
            <a:pPr indent="0" marL="0">
              <a:spcAft>
                <a:spcPts val="200"/>
              </a:spcAft>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spcAft>
                <a:spcPts val="200"/>
              </a:spcAft>
              <a:buNone/>
            </a:pPr>
            <a:r>
              <a:rPr lang="en-US" sz="1300" b="1" dirty="0">
                <a:solidFill>
                  <a:srgbClr val="FBE5E3"/>
                </a:solidFill>
                <a:latin typeface="Calibri" pitchFamily="34" charset="0"/>
                <a:ea typeface="Calibri" pitchFamily="34" charset="-122"/>
                <a:cs typeface="Calibri" pitchFamily="34" charset="-120"/>
              </a:rPr>
              <a:t>Watch for:</a:t>
            </a:r>
            <a:pPr indent="0" marL="0">
              <a:spcAft>
                <a:spcPts val="200"/>
              </a:spcAft>
              <a:buNone/>
            </a:pPr>
            <a:r>
              <a:rPr lang="en-US" sz="1300" dirty="0">
                <a:solidFill>
                  <a:srgbClr val="FFFFFF"/>
                </a:solidFill>
                <a:latin typeface="Calibri" pitchFamily="34" charset="0"/>
                <a:ea typeface="Calibri" pitchFamily="34" charset="-122"/>
                <a:cs typeface="Calibri" pitchFamily="34" charset="-120"/>
              </a:rPr>
              <a:t>  it doesn't just copy — it adapts to the target's conventions</a:t>
            </a:r>
            <a:endParaRPr lang="en-US" sz="1300" dirty="0"/>
          </a:p>
          <a:p>
            <a:pPr indent="0" marL="0">
              <a:spcAft>
                <a:spcPts val="200"/>
              </a:spcAft>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spcAft>
                <a:spcPts val="200"/>
              </a:spcAft>
              <a:buNone/>
            </a:pPr>
            <a:r>
              <a:rPr lang="en-US" sz="1300" i="1" dirty="0">
                <a:solidFill>
                  <a:srgbClr val="9FB6D3"/>
                </a:solidFill>
                <a:latin typeface="Calibri" pitchFamily="34" charset="0"/>
                <a:ea typeface="Calibri" pitchFamily="34" charset="-122"/>
                <a:cs typeface="Calibri" pitchFamily="34" charset="-120"/>
              </a:rPr>
              <a:t>This is the kit earning its keep — across repo boundaries</a:t>
            </a:r>
            <a:endParaRPr lang="en-US" sz="1300" dirty="0"/>
          </a:p>
        </p:txBody>
      </p:sp>
      <p:sp>
        <p:nvSpPr>
          <p:cNvPr id="8" name="Text 6"/>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9FB6D3"/>
                </a:solidFill>
                <a:latin typeface="Calibri" pitchFamily="34" charset="0"/>
                <a:ea typeface="Calibri" pitchFamily="34" charset="-122"/>
                <a:cs typeface="Calibri" pitchFamily="34" charset="-120"/>
              </a:rPr>
              <a:t>16 / 19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HONEST TRADEOFFS</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Where this is overkill</a:t>
            </a:r>
            <a:endParaRPr lang="en-US" sz="2600" dirty="0"/>
          </a:p>
        </p:txBody>
      </p:sp>
      <p:sp>
        <p:nvSpPr>
          <p:cNvPr id="5" name="Shape 3"/>
          <p:cNvSpPr/>
          <p:nvPr/>
        </p:nvSpPr>
        <p:spPr>
          <a:xfrm>
            <a:off x="457200" y="1417320"/>
            <a:ext cx="4023360" cy="2377440"/>
          </a:xfrm>
          <a:prstGeom prst="rect">
            <a:avLst/>
          </a:prstGeom>
          <a:solidFill>
            <a:srgbClr val="FFFFFF"/>
          </a:solidFill>
          <a:ln w="25400">
            <a:solidFill>
              <a:srgbClr val="003B70"/>
            </a:solidFill>
            <a:prstDash val="solid"/>
          </a:ln>
        </p:spPr>
      </p:sp>
      <p:sp>
        <p:nvSpPr>
          <p:cNvPr id="6" name="Shape 4"/>
          <p:cNvSpPr/>
          <p:nvPr/>
        </p:nvSpPr>
        <p:spPr>
          <a:xfrm>
            <a:off x="457200" y="1417320"/>
            <a:ext cx="4023360" cy="73152"/>
          </a:xfrm>
          <a:prstGeom prst="rect">
            <a:avLst/>
          </a:prstGeom>
          <a:solidFill>
            <a:srgbClr val="003B70"/>
          </a:solidFill>
          <a:ln/>
        </p:spPr>
      </p:sp>
      <p:pic>
        <p:nvPicPr>
          <p:cNvPr id="7" name="Image 0" descr="preencoded.png">    </p:cNvPr>
          <p:cNvPicPr>
            <a:picLocks noChangeAspect="1"/>
          </p:cNvPicPr>
          <p:nvPr/>
        </p:nvPicPr>
        <p:blipFill>
          <a:blip r:embed="rId1"/>
          <a:stretch>
            <a:fillRect/>
          </a:stretch>
        </p:blipFill>
        <p:spPr>
          <a:xfrm>
            <a:off x="685800" y="1627632"/>
            <a:ext cx="320040" cy="320040"/>
          </a:xfrm>
          <a:prstGeom prst="rect">
            <a:avLst/>
          </a:prstGeom>
        </p:spPr>
      </p:pic>
      <p:sp>
        <p:nvSpPr>
          <p:cNvPr id="8" name="Text 5"/>
          <p:cNvSpPr/>
          <p:nvPr/>
        </p:nvSpPr>
        <p:spPr>
          <a:xfrm>
            <a:off x="1097280" y="1627632"/>
            <a:ext cx="3291840" cy="320040"/>
          </a:xfrm>
          <a:prstGeom prst="rect">
            <a:avLst/>
          </a:prstGeom>
          <a:noFill/>
          <a:ln/>
        </p:spPr>
        <p:txBody>
          <a:bodyPr wrap="square" lIns="0" tIns="0" rIns="0" bIns="0" rtlCol="0" anchor="ctr"/>
          <a:lstStyle/>
          <a:p>
            <a:pPr indent="0" marL="0">
              <a:buNone/>
            </a:pPr>
            <a:r>
              <a:rPr lang="en-US" sz="1200" b="1" spc="300" kern="0" dirty="0">
                <a:solidFill>
                  <a:srgbClr val="003B70"/>
                </a:solidFill>
                <a:latin typeface="Calibri" pitchFamily="34" charset="0"/>
                <a:ea typeface="Calibri" pitchFamily="34" charset="-122"/>
                <a:cs typeface="Calibri" pitchFamily="34" charset="-120"/>
              </a:rPr>
              <a:t>USE THE KIT FOR</a:t>
            </a:r>
            <a:endParaRPr lang="en-US" sz="1200" dirty="0"/>
          </a:p>
        </p:txBody>
      </p:sp>
      <p:sp>
        <p:nvSpPr>
          <p:cNvPr id="9" name="Text 6"/>
          <p:cNvSpPr/>
          <p:nvPr/>
        </p:nvSpPr>
        <p:spPr>
          <a:xfrm>
            <a:off x="777240" y="2103120"/>
            <a:ext cx="3566160" cy="1554480"/>
          </a:xfrm>
          <a:prstGeom prst="rect">
            <a:avLst/>
          </a:prstGeom>
          <a:noFill/>
          <a:ln/>
        </p:spPr>
        <p:txBody>
          <a:bodyPr wrap="square" rtlCol="0" anchor="ctr"/>
          <a:lstStyle/>
          <a:p>
            <a:pPr marL="342900" indent="-342900">
              <a:spcAft>
                <a:spcPts val="600"/>
              </a:spcAft>
              <a:buSzPct val="100000"/>
              <a:buChar char="•"/>
            </a:pPr>
            <a:r>
              <a:rPr lang="en-US" sz="1300" dirty="0">
                <a:solidFill>
                  <a:srgbClr val="0F1A2C"/>
                </a:solidFill>
                <a:latin typeface="Calibri" pitchFamily="34" charset="0"/>
                <a:ea typeface="Calibri" pitchFamily="34" charset="-122"/>
                <a:cs typeface="Calibri" pitchFamily="34" charset="-120"/>
              </a:rPr>
              <a:t>Production code shipping to customers</a:t>
            </a:r>
            <a:endParaRPr lang="en-US" sz="1300" dirty="0"/>
          </a:p>
          <a:p>
            <a:pPr marL="342900" indent="-342900">
              <a:spcAft>
                <a:spcPts val="600"/>
              </a:spcAft>
              <a:buSzPct val="100000"/>
              <a:buChar char="•"/>
            </a:pPr>
            <a:r>
              <a:rPr lang="en-US" sz="1300" dirty="0">
                <a:solidFill>
                  <a:srgbClr val="0F1A2C"/>
                </a:solidFill>
                <a:latin typeface="Calibri" pitchFamily="34" charset="0"/>
                <a:ea typeface="Calibri" pitchFamily="34" charset="-122"/>
                <a:cs typeface="Calibri" pitchFamily="34" charset="-120"/>
              </a:rPr>
              <a:t>Reusable patterns across teams (grids, dashboards, services)</a:t>
            </a:r>
            <a:endParaRPr lang="en-US" sz="1300" dirty="0"/>
          </a:p>
          <a:p>
            <a:pPr marL="342900" indent="-342900">
              <a:spcAft>
                <a:spcPts val="600"/>
              </a:spcAft>
              <a:buSzPct val="100000"/>
              <a:buChar char="•"/>
            </a:pPr>
            <a:r>
              <a:rPr lang="en-US" sz="1300" dirty="0">
                <a:solidFill>
                  <a:srgbClr val="0F1A2C"/>
                </a:solidFill>
                <a:latin typeface="Calibri" pitchFamily="34" charset="0"/>
                <a:ea typeface="Calibri" pitchFamily="34" charset="-122"/>
                <a:cs typeface="Calibri" pitchFamily="34" charset="-120"/>
              </a:rPr>
              <a:t>Anything that crosses team boundaries</a:t>
            </a:r>
            <a:endParaRPr lang="en-US" sz="1300" dirty="0"/>
          </a:p>
        </p:txBody>
      </p:sp>
      <p:sp>
        <p:nvSpPr>
          <p:cNvPr id="10" name="Shape 7"/>
          <p:cNvSpPr/>
          <p:nvPr/>
        </p:nvSpPr>
        <p:spPr>
          <a:xfrm>
            <a:off x="4663440" y="1417320"/>
            <a:ext cx="4023360" cy="2377440"/>
          </a:xfrm>
          <a:prstGeom prst="rect">
            <a:avLst/>
          </a:prstGeom>
          <a:solidFill>
            <a:srgbClr val="FFFFFF"/>
          </a:solidFill>
          <a:ln w="25400">
            <a:solidFill>
              <a:srgbClr val="D9261C"/>
            </a:solidFill>
            <a:prstDash val="solid"/>
          </a:ln>
        </p:spPr>
      </p:sp>
      <p:sp>
        <p:nvSpPr>
          <p:cNvPr id="11" name="Shape 8"/>
          <p:cNvSpPr/>
          <p:nvPr/>
        </p:nvSpPr>
        <p:spPr>
          <a:xfrm>
            <a:off x="4663440" y="1417320"/>
            <a:ext cx="4023360" cy="73152"/>
          </a:xfrm>
          <a:prstGeom prst="rect">
            <a:avLst/>
          </a:prstGeom>
          <a:solidFill>
            <a:srgbClr val="D9261C"/>
          </a:solidFill>
          <a:ln/>
        </p:spPr>
      </p:sp>
      <p:pic>
        <p:nvPicPr>
          <p:cNvPr id="12" name="Image 1" descr="preencoded.png">    </p:cNvPr>
          <p:cNvPicPr>
            <a:picLocks noChangeAspect="1"/>
          </p:cNvPicPr>
          <p:nvPr/>
        </p:nvPicPr>
        <p:blipFill>
          <a:blip r:embed="rId2"/>
          <a:stretch>
            <a:fillRect/>
          </a:stretch>
        </p:blipFill>
        <p:spPr>
          <a:xfrm>
            <a:off x="4892040" y="1627632"/>
            <a:ext cx="320040" cy="320040"/>
          </a:xfrm>
          <a:prstGeom prst="rect">
            <a:avLst/>
          </a:prstGeom>
        </p:spPr>
      </p:pic>
      <p:sp>
        <p:nvSpPr>
          <p:cNvPr id="13" name="Text 9"/>
          <p:cNvSpPr/>
          <p:nvPr/>
        </p:nvSpPr>
        <p:spPr>
          <a:xfrm>
            <a:off x="5303520" y="1627632"/>
            <a:ext cx="3291840" cy="320040"/>
          </a:xfrm>
          <a:prstGeom prst="rect">
            <a:avLst/>
          </a:prstGeom>
          <a:noFill/>
          <a:ln/>
        </p:spPr>
        <p:txBody>
          <a:bodyPr wrap="square" lIns="0" tIns="0" rIns="0" bIns="0" rtlCol="0" anchor="ctr"/>
          <a:lstStyle/>
          <a:p>
            <a:pPr indent="0" marL="0">
              <a:buNone/>
            </a:pPr>
            <a:r>
              <a:rPr lang="en-US" sz="1200" b="1" spc="300" kern="0" dirty="0">
                <a:solidFill>
                  <a:srgbClr val="D9261C"/>
                </a:solidFill>
                <a:latin typeface="Calibri" pitchFamily="34" charset="0"/>
                <a:ea typeface="Calibri" pitchFamily="34" charset="-122"/>
                <a:cs typeface="Calibri" pitchFamily="34" charset="-120"/>
              </a:rPr>
              <a:t>SKIP THE KIT FOR</a:t>
            </a:r>
            <a:endParaRPr lang="en-US" sz="1200" dirty="0"/>
          </a:p>
        </p:txBody>
      </p:sp>
      <p:sp>
        <p:nvSpPr>
          <p:cNvPr id="14" name="Text 10"/>
          <p:cNvSpPr/>
          <p:nvPr/>
        </p:nvSpPr>
        <p:spPr>
          <a:xfrm>
            <a:off x="4983480" y="2103120"/>
            <a:ext cx="3566160" cy="1554480"/>
          </a:xfrm>
          <a:prstGeom prst="rect">
            <a:avLst/>
          </a:prstGeom>
          <a:noFill/>
          <a:ln/>
        </p:spPr>
        <p:txBody>
          <a:bodyPr wrap="square" rtlCol="0" anchor="ctr"/>
          <a:lstStyle/>
          <a:p>
            <a:pPr marL="342900" indent="-342900">
              <a:spcAft>
                <a:spcPts val="600"/>
              </a:spcAft>
              <a:buSzPct val="100000"/>
              <a:buChar char="•"/>
            </a:pPr>
            <a:r>
              <a:rPr lang="en-US" sz="1300" dirty="0">
                <a:solidFill>
                  <a:srgbClr val="0F1A2C"/>
                </a:solidFill>
                <a:latin typeface="Calibri" pitchFamily="34" charset="0"/>
                <a:ea typeface="Calibri" pitchFamily="34" charset="-122"/>
                <a:cs typeface="Calibri" pitchFamily="34" charset="-120"/>
              </a:rPr>
              <a:t>Throwaway scripts and one-offs</a:t>
            </a:r>
            <a:endParaRPr lang="en-US" sz="1300" dirty="0"/>
          </a:p>
          <a:p>
            <a:pPr marL="342900" indent="-342900">
              <a:spcAft>
                <a:spcPts val="600"/>
              </a:spcAft>
              <a:buSzPct val="100000"/>
              <a:buChar char="•"/>
            </a:pPr>
            <a:r>
              <a:rPr lang="en-US" sz="1300" dirty="0">
                <a:solidFill>
                  <a:srgbClr val="0F1A2C"/>
                </a:solidFill>
                <a:latin typeface="Calibri" pitchFamily="34" charset="0"/>
                <a:ea typeface="Calibri" pitchFamily="34" charset="-122"/>
                <a:cs typeface="Calibri" pitchFamily="34" charset="-120"/>
              </a:rPr>
              <a:t>Exploration and prototyping</a:t>
            </a:r>
            <a:endParaRPr lang="en-US" sz="1300" dirty="0"/>
          </a:p>
          <a:p>
            <a:pPr marL="342900" indent="-342900">
              <a:spcAft>
                <a:spcPts val="600"/>
              </a:spcAft>
              <a:buSzPct val="100000"/>
              <a:buChar char="•"/>
            </a:pPr>
            <a:r>
              <a:rPr lang="en-US" sz="1300" dirty="0">
                <a:solidFill>
                  <a:srgbClr val="0F1A2C"/>
                </a:solidFill>
                <a:latin typeface="Calibri" pitchFamily="34" charset="0"/>
                <a:ea typeface="Calibri" pitchFamily="34" charset="-122"/>
                <a:cs typeface="Calibri" pitchFamily="34" charset="-120"/>
              </a:rPr>
              <a:t>Personal productivity tasks</a:t>
            </a:r>
            <a:endParaRPr lang="en-US" sz="1300" dirty="0"/>
          </a:p>
        </p:txBody>
      </p:sp>
      <p:sp>
        <p:nvSpPr>
          <p:cNvPr id="15" name="Shape 11"/>
          <p:cNvSpPr/>
          <p:nvPr/>
        </p:nvSpPr>
        <p:spPr>
          <a:xfrm>
            <a:off x="457200" y="3977640"/>
            <a:ext cx="8229600" cy="594360"/>
          </a:xfrm>
          <a:prstGeom prst="rect">
            <a:avLst/>
          </a:prstGeom>
          <a:solidFill>
            <a:srgbClr val="F4F6FA"/>
          </a:solidFill>
          <a:ln/>
        </p:spPr>
      </p:sp>
      <p:sp>
        <p:nvSpPr>
          <p:cNvPr id="16" name="Text 12"/>
          <p:cNvSpPr/>
          <p:nvPr/>
        </p:nvSpPr>
        <p:spPr>
          <a:xfrm>
            <a:off x="640080" y="4041648"/>
            <a:ext cx="7863840" cy="457200"/>
          </a:xfrm>
          <a:prstGeom prst="rect">
            <a:avLst/>
          </a:prstGeom>
          <a:noFill/>
          <a:ln/>
        </p:spPr>
        <p:txBody>
          <a:bodyPr wrap="square" lIns="0" tIns="0" rIns="0" bIns="0" rtlCol="0" anchor="ctr"/>
          <a:lstStyle/>
          <a:p>
            <a:pPr indent="0" marL="0">
              <a:buNone/>
            </a:pPr>
            <a:r>
              <a:rPr lang="en-US" sz="1200" b="1" spc="300" kern="0" dirty="0">
                <a:solidFill>
                  <a:srgbClr val="D9261C"/>
                </a:solidFill>
                <a:latin typeface="Calibri" pitchFamily="34" charset="0"/>
                <a:ea typeface="Calibri" pitchFamily="34" charset="-122"/>
                <a:cs typeface="Calibri" pitchFamily="34" charset="-120"/>
              </a:rPr>
              <a:t>STILL FIGURING OUT:  </a:t>
            </a:r>
            <a:pPr indent="0" marL="0">
              <a:buNone/>
            </a:pPr>
            <a:r>
              <a:rPr lang="en-US" sz="1200" dirty="0">
                <a:solidFill>
                  <a:srgbClr val="0F1A2C"/>
                </a:solidFill>
                <a:latin typeface="Calibri" pitchFamily="34" charset="0"/>
                <a:ea typeface="Calibri" pitchFamily="34" charset="-122"/>
                <a:cs typeface="Calibri" pitchFamily="34" charset="-120"/>
              </a:rPr>
              <a:t>persona granularity · schema versioning · when skills should hand off to other skills</a:t>
            </a:r>
            <a:endParaRPr lang="en-US" sz="1200" dirty="0"/>
          </a:p>
        </p:txBody>
      </p:sp>
      <p:sp>
        <p:nvSpPr>
          <p:cNvPr id="17" name="Text 13"/>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17 / 19</a:t>
            </a:r>
            <a:endParaRPr lang="en-US" sz="900" dirty="0"/>
          </a:p>
        </p:txBody>
      </p:sp>
      <p:sp>
        <p:nvSpPr>
          <p:cNvPr id="18" name="Text 14"/>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4592" cy="164592"/>
          </a:xfrm>
          <a:prstGeom prst="rect">
            <a:avLst/>
          </a:prstGeom>
          <a:solidFill>
            <a:srgbClr val="D9261C"/>
          </a:solidFill>
          <a:ln/>
        </p:spPr>
      </p:sp>
      <p:sp>
        <p:nvSpPr>
          <p:cNvPr id="3" name="Text 1"/>
          <p:cNvSpPr/>
          <p:nvPr/>
        </p:nvSpPr>
        <p:spPr>
          <a:xfrm>
            <a:off x="713232" y="329184"/>
            <a:ext cx="7772400" cy="274320"/>
          </a:xfrm>
          <a:prstGeom prst="rect">
            <a:avLst/>
          </a:prstGeom>
          <a:noFill/>
          <a:ln/>
        </p:spPr>
        <p:txBody>
          <a:bodyPr wrap="square" lIns="0" tIns="0" rIns="0" bIns="0" rtlCol="0" anchor="ctr"/>
          <a:lstStyle/>
          <a:p>
            <a:pPr indent="0" marL="0">
              <a:buNone/>
            </a:pPr>
            <a:r>
              <a:rPr lang="en-US" sz="1100" b="1" spc="400" kern="0" dirty="0">
                <a:solidFill>
                  <a:srgbClr val="5B6A82"/>
                </a:solidFill>
                <a:latin typeface="Calibri" pitchFamily="34" charset="0"/>
                <a:ea typeface="Calibri" pitchFamily="34" charset="-122"/>
                <a:cs typeface="Calibri" pitchFamily="34" charset="-120"/>
              </a:rPr>
              <a:t>ADOPTION PATH</a:t>
            </a:r>
            <a:endParaRPr lang="en-US" sz="1100" dirty="0"/>
          </a:p>
        </p:txBody>
      </p:sp>
      <p:sp>
        <p:nvSpPr>
          <p:cNvPr id="4" name="Text 2"/>
          <p:cNvSpPr/>
          <p:nvPr/>
        </p:nvSpPr>
        <p:spPr>
          <a:xfrm>
            <a:off x="457200" y="713232"/>
            <a:ext cx="8229600" cy="502920"/>
          </a:xfrm>
          <a:prstGeom prst="rect">
            <a:avLst/>
          </a:prstGeom>
          <a:noFill/>
          <a:ln/>
        </p:spPr>
        <p:txBody>
          <a:bodyPr wrap="square" lIns="0" tIns="0" rIns="0" bIns="0" rtlCol="0" anchor="ctr"/>
          <a:lstStyle/>
          <a:p>
            <a:pPr indent="0" marL="0">
              <a:buNone/>
            </a:pPr>
            <a:r>
              <a:rPr lang="en-US" sz="2600" b="1" dirty="0">
                <a:solidFill>
                  <a:srgbClr val="003B70"/>
                </a:solidFill>
                <a:latin typeface="Georgia" pitchFamily="34" charset="0"/>
                <a:ea typeface="Georgia" pitchFamily="34" charset="-122"/>
                <a:cs typeface="Georgia" pitchFamily="34" charset="-120"/>
              </a:rPr>
              <a:t>How a team starts using this</a:t>
            </a:r>
            <a:endParaRPr lang="en-US" sz="2600" dirty="0"/>
          </a:p>
        </p:txBody>
      </p:sp>
      <p:sp>
        <p:nvSpPr>
          <p:cNvPr id="5" name="Shape 3"/>
          <p:cNvSpPr/>
          <p:nvPr/>
        </p:nvSpPr>
        <p:spPr>
          <a:xfrm>
            <a:off x="548640" y="1417320"/>
            <a:ext cx="457200" cy="457200"/>
          </a:xfrm>
          <a:prstGeom prst="ellipse">
            <a:avLst/>
          </a:prstGeom>
          <a:solidFill>
            <a:srgbClr val="003B70"/>
          </a:solidFill>
          <a:ln/>
        </p:spPr>
      </p:sp>
      <p:sp>
        <p:nvSpPr>
          <p:cNvPr id="6" name="Text 4"/>
          <p:cNvSpPr/>
          <p:nvPr/>
        </p:nvSpPr>
        <p:spPr>
          <a:xfrm>
            <a:off x="548640" y="141732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7" name="Text 5"/>
          <p:cNvSpPr/>
          <p:nvPr/>
        </p:nvSpPr>
        <p:spPr>
          <a:xfrm>
            <a:off x="1188720" y="1490472"/>
            <a:ext cx="7315200" cy="411480"/>
          </a:xfrm>
          <a:prstGeom prst="rect">
            <a:avLst/>
          </a:prstGeom>
          <a:noFill/>
          <a:ln/>
        </p:spPr>
        <p:txBody>
          <a:bodyPr wrap="square" lIns="0" tIns="0" rIns="0" bIns="0" rtlCol="0" anchor="ctr"/>
          <a:lstStyle/>
          <a:p>
            <a:pPr indent="0" marL="0">
              <a:buNone/>
            </a:pPr>
            <a:r>
              <a:rPr lang="en-US" sz="1500" dirty="0">
                <a:solidFill>
                  <a:srgbClr val="0F1A2C"/>
                </a:solidFill>
                <a:latin typeface="Calibri" pitchFamily="34" charset="0"/>
                <a:ea typeface="Calibri" pitchFamily="34" charset="-122"/>
                <a:cs typeface="Calibri" pitchFamily="34" charset="-120"/>
              </a:rPr>
              <a:t>Copy spec-agent/ into the repo</a:t>
            </a:r>
            <a:endParaRPr lang="en-US" sz="1500" dirty="0"/>
          </a:p>
        </p:txBody>
      </p:sp>
      <p:sp>
        <p:nvSpPr>
          <p:cNvPr id="8" name="Shape 6"/>
          <p:cNvSpPr/>
          <p:nvPr/>
        </p:nvSpPr>
        <p:spPr>
          <a:xfrm>
            <a:off x="548640" y="2039112"/>
            <a:ext cx="457200" cy="457200"/>
          </a:xfrm>
          <a:prstGeom prst="ellipse">
            <a:avLst/>
          </a:prstGeom>
          <a:solidFill>
            <a:srgbClr val="003B70"/>
          </a:solidFill>
          <a:ln/>
        </p:spPr>
      </p:sp>
      <p:sp>
        <p:nvSpPr>
          <p:cNvPr id="9" name="Text 7"/>
          <p:cNvSpPr/>
          <p:nvPr/>
        </p:nvSpPr>
        <p:spPr>
          <a:xfrm>
            <a:off x="548640" y="203911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0" name="Text 8"/>
          <p:cNvSpPr/>
          <p:nvPr/>
        </p:nvSpPr>
        <p:spPr>
          <a:xfrm>
            <a:off x="1188720" y="2112264"/>
            <a:ext cx="7315200" cy="411480"/>
          </a:xfrm>
          <a:prstGeom prst="rect">
            <a:avLst/>
          </a:prstGeom>
          <a:noFill/>
          <a:ln/>
        </p:spPr>
        <p:txBody>
          <a:bodyPr wrap="square" lIns="0" tIns="0" rIns="0" bIns="0" rtlCol="0" anchor="ctr"/>
          <a:lstStyle/>
          <a:p>
            <a:pPr indent="0" marL="0">
              <a:buNone/>
            </a:pPr>
            <a:r>
              <a:rPr lang="en-US" sz="1500" dirty="0">
                <a:solidFill>
                  <a:srgbClr val="0F1A2C"/>
                </a:solidFill>
                <a:latin typeface="Calibri" pitchFamily="34" charset="0"/>
                <a:ea typeface="Calibri" pitchFamily="34" charset="-122"/>
                <a:cs typeface="Calibri" pitchFamily="34" charset="-120"/>
              </a:rPr>
              <a:t>Add the platform adapters: .github/copilot-instructions.md and .devin/knowledge.md</a:t>
            </a:r>
            <a:endParaRPr lang="en-US" sz="1500" dirty="0"/>
          </a:p>
        </p:txBody>
      </p:sp>
      <p:sp>
        <p:nvSpPr>
          <p:cNvPr id="11" name="Shape 9"/>
          <p:cNvSpPr/>
          <p:nvPr/>
        </p:nvSpPr>
        <p:spPr>
          <a:xfrm>
            <a:off x="548640" y="2660904"/>
            <a:ext cx="457200" cy="457200"/>
          </a:xfrm>
          <a:prstGeom prst="ellipse">
            <a:avLst/>
          </a:prstGeom>
          <a:solidFill>
            <a:srgbClr val="003B70"/>
          </a:solidFill>
          <a:ln/>
        </p:spPr>
      </p:sp>
      <p:sp>
        <p:nvSpPr>
          <p:cNvPr id="12" name="Text 10"/>
          <p:cNvSpPr/>
          <p:nvPr/>
        </p:nvSpPr>
        <p:spPr>
          <a:xfrm>
            <a:off x="548640" y="2660904"/>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3" name="Text 11"/>
          <p:cNvSpPr/>
          <p:nvPr/>
        </p:nvSpPr>
        <p:spPr>
          <a:xfrm>
            <a:off x="1188720" y="2734056"/>
            <a:ext cx="7315200" cy="411480"/>
          </a:xfrm>
          <a:prstGeom prst="rect">
            <a:avLst/>
          </a:prstGeom>
          <a:noFill/>
          <a:ln/>
        </p:spPr>
        <p:txBody>
          <a:bodyPr wrap="square" lIns="0" tIns="0" rIns="0" bIns="0" rtlCol="0" anchor="ctr"/>
          <a:lstStyle/>
          <a:p>
            <a:pPr indent="0" marL="0">
              <a:buNone/>
            </a:pPr>
            <a:r>
              <a:rPr lang="en-US" sz="1500" dirty="0">
                <a:solidFill>
                  <a:srgbClr val="0F1A2C"/>
                </a:solidFill>
                <a:latin typeface="Calibri" pitchFamily="34" charset="0"/>
                <a:ea typeface="Calibri" pitchFamily="34" charset="-122"/>
                <a:cs typeface="Calibri" pitchFamily="34" charset="-120"/>
              </a:rPr>
              <a:t>Use the existing schemas and skills as-is</a:t>
            </a:r>
            <a:endParaRPr lang="en-US" sz="1500" dirty="0"/>
          </a:p>
        </p:txBody>
      </p:sp>
      <p:sp>
        <p:nvSpPr>
          <p:cNvPr id="14" name="Shape 12"/>
          <p:cNvSpPr/>
          <p:nvPr/>
        </p:nvSpPr>
        <p:spPr>
          <a:xfrm>
            <a:off x="548640" y="3282696"/>
            <a:ext cx="457200" cy="457200"/>
          </a:xfrm>
          <a:prstGeom prst="ellipse">
            <a:avLst/>
          </a:prstGeom>
          <a:solidFill>
            <a:srgbClr val="D9261C"/>
          </a:solidFill>
          <a:ln/>
        </p:spPr>
      </p:sp>
      <p:sp>
        <p:nvSpPr>
          <p:cNvPr id="15" name="Text 13"/>
          <p:cNvSpPr/>
          <p:nvPr/>
        </p:nvSpPr>
        <p:spPr>
          <a:xfrm>
            <a:off x="548640" y="32826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16" name="Text 14"/>
          <p:cNvSpPr/>
          <p:nvPr/>
        </p:nvSpPr>
        <p:spPr>
          <a:xfrm>
            <a:off x="1188720" y="3355848"/>
            <a:ext cx="7315200" cy="411480"/>
          </a:xfrm>
          <a:prstGeom prst="rect">
            <a:avLst/>
          </a:prstGeom>
          <a:noFill/>
          <a:ln/>
        </p:spPr>
        <p:txBody>
          <a:bodyPr wrap="square" lIns="0" tIns="0" rIns="0" bIns="0" rtlCol="0" anchor="ctr"/>
          <a:lstStyle/>
          <a:p>
            <a:pPr indent="0" marL="0">
              <a:buNone/>
            </a:pPr>
            <a:r>
              <a:rPr lang="en-US" sz="1500" dirty="0">
                <a:solidFill>
                  <a:srgbClr val="0F1A2C"/>
                </a:solidFill>
                <a:latin typeface="Calibri" pitchFamily="34" charset="0"/>
                <a:ea typeface="Calibri" pitchFamily="34" charset="-122"/>
                <a:cs typeface="Calibri" pitchFamily="34" charset="-120"/>
              </a:rPr>
              <a:t>Add team-specific standards in standards/ over time</a:t>
            </a:r>
            <a:endParaRPr lang="en-US" sz="1500" dirty="0"/>
          </a:p>
        </p:txBody>
      </p:sp>
      <p:sp>
        <p:nvSpPr>
          <p:cNvPr id="17" name="Shape 15"/>
          <p:cNvSpPr/>
          <p:nvPr/>
        </p:nvSpPr>
        <p:spPr>
          <a:xfrm>
            <a:off x="548640" y="3904488"/>
            <a:ext cx="457200" cy="457200"/>
          </a:xfrm>
          <a:prstGeom prst="ellipse">
            <a:avLst/>
          </a:prstGeom>
          <a:solidFill>
            <a:srgbClr val="D9261C"/>
          </a:solidFill>
          <a:ln/>
        </p:spPr>
      </p:sp>
      <p:sp>
        <p:nvSpPr>
          <p:cNvPr id="18" name="Text 16"/>
          <p:cNvSpPr/>
          <p:nvPr/>
        </p:nvSpPr>
        <p:spPr>
          <a:xfrm>
            <a:off x="548640" y="390448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19" name="Text 17"/>
          <p:cNvSpPr/>
          <p:nvPr/>
        </p:nvSpPr>
        <p:spPr>
          <a:xfrm>
            <a:off x="1188720" y="3977640"/>
            <a:ext cx="7315200" cy="411480"/>
          </a:xfrm>
          <a:prstGeom prst="rect">
            <a:avLst/>
          </a:prstGeom>
          <a:noFill/>
          <a:ln/>
        </p:spPr>
        <p:txBody>
          <a:bodyPr wrap="square" lIns="0" tIns="0" rIns="0" bIns="0" rtlCol="0" anchor="ctr"/>
          <a:lstStyle/>
          <a:p>
            <a:pPr indent="0" marL="0">
              <a:buNone/>
            </a:pPr>
            <a:r>
              <a:rPr lang="en-US" sz="1500" dirty="0">
                <a:solidFill>
                  <a:srgbClr val="0F1A2C"/>
                </a:solidFill>
                <a:latin typeface="Calibri" pitchFamily="34" charset="0"/>
                <a:ea typeface="Calibri" pitchFamily="34" charset="-122"/>
                <a:cs typeface="Calibri" pitchFamily="34" charset="-120"/>
              </a:rPr>
              <a:t>Contribute back when patterns generalize</a:t>
            </a:r>
            <a:endParaRPr lang="en-US" sz="1500" dirty="0"/>
          </a:p>
        </p:txBody>
      </p:sp>
      <p:sp>
        <p:nvSpPr>
          <p:cNvPr id="20" name="Shape 18"/>
          <p:cNvSpPr/>
          <p:nvPr/>
        </p:nvSpPr>
        <p:spPr>
          <a:xfrm>
            <a:off x="457200" y="4526280"/>
            <a:ext cx="8229600" cy="91"/>
          </a:xfrm>
          <a:prstGeom prst="rect">
            <a:avLst/>
          </a:prstGeom>
          <a:solidFill>
            <a:srgbClr val="D6DEEB"/>
          </a:solidFill>
          <a:ln w="12700">
            <a:solidFill>
              <a:srgbClr val="D6DEEB"/>
            </a:solidFill>
            <a:prstDash val="solid"/>
          </a:ln>
        </p:spPr>
      </p:sp>
      <p:sp>
        <p:nvSpPr>
          <p:cNvPr id="21" name="Text 19"/>
          <p:cNvSpPr/>
          <p:nvPr/>
        </p:nvSpPr>
        <p:spPr>
          <a:xfrm>
            <a:off x="457200" y="4572000"/>
            <a:ext cx="8229600" cy="274320"/>
          </a:xfrm>
          <a:prstGeom prst="rect">
            <a:avLst/>
          </a:prstGeom>
          <a:noFill/>
          <a:ln/>
        </p:spPr>
        <p:txBody>
          <a:bodyPr wrap="square" lIns="0" tIns="0" rIns="0" bIns="0" rtlCol="0" anchor="ctr"/>
          <a:lstStyle/>
          <a:p>
            <a:pPr indent="0" marL="0">
              <a:buNone/>
            </a:pPr>
            <a:r>
              <a:rPr lang="en-US" sz="1200" b="1" i="1" dirty="0">
                <a:solidFill>
                  <a:srgbClr val="003B70"/>
                </a:solidFill>
                <a:latin typeface="Calibri" pitchFamily="34" charset="0"/>
                <a:ea typeface="Calibri" pitchFamily="34" charset="-122"/>
                <a:cs typeface="Calibri" pitchFamily="34" charset="-120"/>
              </a:rPr>
              <a:t>First three steps:</a:t>
            </a:r>
            <a:pPr indent="0" marL="0">
              <a:buNone/>
            </a:pPr>
            <a:r>
              <a:rPr lang="en-US" sz="1200" i="1" dirty="0">
                <a:solidFill>
                  <a:srgbClr val="0F1A2C"/>
                </a:solidFill>
                <a:latin typeface="Calibri" pitchFamily="34" charset="0"/>
                <a:ea typeface="Calibri" pitchFamily="34" charset="-122"/>
                <a:cs typeface="Calibri" pitchFamily="34" charset="-120"/>
              </a:rPr>
              <a:t>  less than an hour.  </a:t>
            </a:r>
            <a:pPr indent="0" marL="0">
              <a:buNone/>
            </a:pPr>
            <a:r>
              <a:rPr lang="en-US" sz="1200" b="1" i="1" dirty="0">
                <a:solidFill>
                  <a:srgbClr val="D9261C"/>
                </a:solidFill>
                <a:latin typeface="Calibri" pitchFamily="34" charset="0"/>
                <a:ea typeface="Calibri" pitchFamily="34" charset="-122"/>
                <a:cs typeface="Calibri" pitchFamily="34" charset="-120"/>
              </a:rPr>
              <a:t>Steps 4–5:</a:t>
            </a:r>
            <a:pPr indent="0" marL="0">
              <a:buNone/>
            </a:pPr>
            <a:r>
              <a:rPr lang="en-US" sz="1200" i="1" dirty="0">
                <a:solidFill>
                  <a:srgbClr val="0F1A2C"/>
                </a:solidFill>
                <a:latin typeface="Calibri" pitchFamily="34" charset="0"/>
                <a:ea typeface="Calibri" pitchFamily="34" charset="-122"/>
                <a:cs typeface="Calibri" pitchFamily="34" charset="-120"/>
              </a:rPr>
              <a:t>  evolve with the team.</a:t>
            </a:r>
            <a:endParaRPr lang="en-US" sz="1200" dirty="0"/>
          </a:p>
        </p:txBody>
      </p:sp>
      <p:sp>
        <p:nvSpPr>
          <p:cNvPr id="22" name="Text 20"/>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5B6A82"/>
                </a:solidFill>
                <a:latin typeface="Calibri" pitchFamily="34" charset="0"/>
                <a:ea typeface="Calibri" pitchFamily="34" charset="-122"/>
                <a:cs typeface="Calibri" pitchFamily="34" charset="-120"/>
              </a:rPr>
              <a:t>18 / 19</a:t>
            </a:r>
            <a:endParaRPr lang="en-US" sz="900" dirty="0"/>
          </a:p>
        </p:txBody>
      </p:sp>
      <p:sp>
        <p:nvSpPr>
          <p:cNvPr id="23" name="Text 21"/>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5B6A82"/>
                </a:solidFill>
                <a:latin typeface="Calibri" pitchFamily="34" charset="0"/>
                <a:ea typeface="Calibri" pitchFamily="34" charset="-122"/>
                <a:cs typeface="Calibri" pitchFamily="34" charset="-120"/>
              </a:rPr>
              <a:t>Spec-Driven Development with Devin and Copilot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3B7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261C"/>
          </a:solidFill>
          <a:ln/>
        </p:spPr>
      </p:sp>
      <p:sp>
        <p:nvSpPr>
          <p:cNvPr id="3" name="Text 1"/>
          <p:cNvSpPr/>
          <p:nvPr/>
        </p:nvSpPr>
        <p:spPr>
          <a:xfrm>
            <a:off x="640080" y="502920"/>
            <a:ext cx="7772400" cy="274320"/>
          </a:xfrm>
          <a:prstGeom prst="rect">
            <a:avLst/>
          </a:prstGeom>
          <a:noFill/>
          <a:ln/>
        </p:spPr>
        <p:txBody>
          <a:bodyPr wrap="square" lIns="0" tIns="0" rIns="0" bIns="0" rtlCol="0" anchor="ctr"/>
          <a:lstStyle/>
          <a:p>
            <a:pPr indent="0" marL="0">
              <a:buNone/>
            </a:pPr>
            <a:r>
              <a:rPr lang="en-US" sz="1200" b="1" spc="600" kern="0" dirty="0">
                <a:solidFill>
                  <a:srgbClr val="9FB6D3"/>
                </a:solidFill>
                <a:latin typeface="Calibri" pitchFamily="34" charset="0"/>
                <a:ea typeface="Calibri" pitchFamily="34" charset="-122"/>
                <a:cs typeface="Calibri" pitchFamily="34" charset="-120"/>
              </a:rPr>
              <a:t>WHAT'S NEXT</a:t>
            </a:r>
            <a:endParaRPr lang="en-US" sz="1200" dirty="0"/>
          </a:p>
        </p:txBody>
      </p:sp>
      <p:sp>
        <p:nvSpPr>
          <p:cNvPr id="4" name="Text 2"/>
          <p:cNvSpPr/>
          <p:nvPr/>
        </p:nvSpPr>
        <p:spPr>
          <a:xfrm>
            <a:off x="640080" y="868680"/>
            <a:ext cx="7772400" cy="64008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Where we're heading</a:t>
            </a:r>
            <a:endParaRPr lang="en-US" sz="3400" dirty="0"/>
          </a:p>
        </p:txBody>
      </p:sp>
      <p:sp>
        <p:nvSpPr>
          <p:cNvPr id="5" name="Shape 3"/>
          <p:cNvSpPr/>
          <p:nvPr/>
        </p:nvSpPr>
        <p:spPr>
          <a:xfrm>
            <a:off x="640080" y="1965960"/>
            <a:ext cx="73152" cy="274320"/>
          </a:xfrm>
          <a:prstGeom prst="rect">
            <a:avLst/>
          </a:prstGeom>
          <a:solidFill>
            <a:srgbClr val="D9261C"/>
          </a:solidFill>
          <a:ln/>
        </p:spPr>
      </p:sp>
      <p:sp>
        <p:nvSpPr>
          <p:cNvPr id="6" name="Text 4"/>
          <p:cNvSpPr/>
          <p:nvPr/>
        </p:nvSpPr>
        <p:spPr>
          <a:xfrm>
            <a:off x="868680" y="1874520"/>
            <a:ext cx="7589520" cy="4114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Demo site for visual schema authoring</a:t>
            </a:r>
            <a:endParaRPr lang="en-US" sz="1800" dirty="0"/>
          </a:p>
        </p:txBody>
      </p:sp>
      <p:sp>
        <p:nvSpPr>
          <p:cNvPr id="7" name="Shape 5"/>
          <p:cNvSpPr/>
          <p:nvPr/>
        </p:nvSpPr>
        <p:spPr>
          <a:xfrm>
            <a:off x="640080" y="2423160"/>
            <a:ext cx="73152" cy="274320"/>
          </a:xfrm>
          <a:prstGeom prst="rect">
            <a:avLst/>
          </a:prstGeom>
          <a:solidFill>
            <a:srgbClr val="D9261C"/>
          </a:solidFill>
          <a:ln/>
        </p:spPr>
      </p:sp>
      <p:sp>
        <p:nvSpPr>
          <p:cNvPr id="8" name="Text 6"/>
          <p:cNvSpPr/>
          <p:nvPr/>
        </p:nvSpPr>
        <p:spPr>
          <a:xfrm>
            <a:off x="868680" y="2331720"/>
            <a:ext cx="7589520" cy="4114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Broader skill library across UI patterns</a:t>
            </a:r>
            <a:endParaRPr lang="en-US" sz="1800" dirty="0"/>
          </a:p>
        </p:txBody>
      </p:sp>
      <p:sp>
        <p:nvSpPr>
          <p:cNvPr id="9" name="Shape 7"/>
          <p:cNvSpPr/>
          <p:nvPr/>
        </p:nvSpPr>
        <p:spPr>
          <a:xfrm>
            <a:off x="640080" y="2880360"/>
            <a:ext cx="73152" cy="274320"/>
          </a:xfrm>
          <a:prstGeom prst="rect">
            <a:avLst/>
          </a:prstGeom>
          <a:solidFill>
            <a:srgbClr val="D9261C"/>
          </a:solidFill>
          <a:ln/>
        </p:spPr>
      </p:sp>
      <p:sp>
        <p:nvSpPr>
          <p:cNvPr id="10" name="Text 8"/>
          <p:cNvSpPr/>
          <p:nvPr/>
        </p:nvSpPr>
        <p:spPr>
          <a:xfrm>
            <a:off x="868680" y="2788920"/>
            <a:ext cx="7589520" cy="4114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Adoption support for teams ready to start</a:t>
            </a:r>
            <a:endParaRPr lang="en-US" sz="1800" dirty="0"/>
          </a:p>
        </p:txBody>
      </p:sp>
      <p:sp>
        <p:nvSpPr>
          <p:cNvPr id="11" name="Text 9"/>
          <p:cNvSpPr/>
          <p:nvPr/>
        </p:nvSpPr>
        <p:spPr>
          <a:xfrm>
            <a:off x="640080" y="3657600"/>
            <a:ext cx="7772400" cy="1097280"/>
          </a:xfrm>
          <a:prstGeom prst="rect">
            <a:avLst/>
          </a:prstGeom>
          <a:noFill/>
          <a:ln/>
        </p:spPr>
        <p:txBody>
          <a:bodyPr wrap="square" lIns="0" tIns="0" rIns="0" bIns="0" rtlCol="0" anchor="ctr"/>
          <a:lstStyle/>
          <a:p>
            <a:pPr indent="0" marL="0">
              <a:buNone/>
            </a:pPr>
            <a:r>
              <a:rPr lang="en-US" sz="6400" b="1" i="1" dirty="0">
                <a:solidFill>
                  <a:srgbClr val="FFFFFF"/>
                </a:solidFill>
                <a:latin typeface="Georgia" pitchFamily="34" charset="0"/>
                <a:ea typeface="Georgia" pitchFamily="34" charset="-122"/>
                <a:cs typeface="Georgia" pitchFamily="34" charset="-120"/>
              </a:rPr>
              <a:t>Questions?</a:t>
            </a:r>
            <a:endParaRPr lang="en-US" sz="6400" dirty="0"/>
          </a:p>
        </p:txBody>
      </p:sp>
      <p:sp>
        <p:nvSpPr>
          <p:cNvPr id="12" name="Shape 10"/>
          <p:cNvSpPr/>
          <p:nvPr/>
        </p:nvSpPr>
        <p:spPr>
          <a:xfrm>
            <a:off x="640080" y="4617720"/>
            <a:ext cx="1371600" cy="54864"/>
          </a:xfrm>
          <a:prstGeom prst="rect">
            <a:avLst/>
          </a:prstGeom>
          <a:solidFill>
            <a:srgbClr val="D9261C"/>
          </a:solidFill>
          <a:ln/>
        </p:spPr>
      </p:sp>
      <p:sp>
        <p:nvSpPr>
          <p:cNvPr id="13" name="Text 11"/>
          <p:cNvSpPr/>
          <p:nvPr/>
        </p:nvSpPr>
        <p:spPr>
          <a:xfrm>
            <a:off x="8412480" y="4846320"/>
            <a:ext cx="548640" cy="228600"/>
          </a:xfrm>
          <a:prstGeom prst="rect">
            <a:avLst/>
          </a:prstGeom>
          <a:noFill/>
          <a:ln/>
        </p:spPr>
        <p:txBody>
          <a:bodyPr wrap="square" lIns="0" tIns="0" rIns="0" bIns="0" rtlCol="0" anchor="ctr"/>
          <a:lstStyle/>
          <a:p>
            <a:pPr algn="r" indent="0" marL="0">
              <a:buNone/>
            </a:pPr>
            <a:r>
              <a:rPr lang="en-US" sz="900" dirty="0">
                <a:solidFill>
                  <a:srgbClr val="9FB6D3"/>
                </a:solidFill>
                <a:latin typeface="Calibri" pitchFamily="34" charset="0"/>
                <a:ea typeface="Calibri" pitchFamily="34" charset="-122"/>
                <a:cs typeface="Calibri" pitchFamily="34" charset="-120"/>
              </a:rPr>
              <a:t>19 / 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Spec-Driven Development with Devin and Copilot</dc:title>
  <dc:subject>PptxGenJS Presentation</dc:subject>
  <dc:creator>Derrick</dc:creator>
  <cp:lastModifiedBy>Derrick</cp:lastModifiedBy>
  <cp:revision>1</cp:revision>
  <dcterms:created xsi:type="dcterms:W3CDTF">2026-05-25T15:34:45Z</dcterms:created>
  <dcterms:modified xsi:type="dcterms:W3CDTF">2026-05-25T15:34:45Z</dcterms:modified>
</cp:coreProperties>
</file>